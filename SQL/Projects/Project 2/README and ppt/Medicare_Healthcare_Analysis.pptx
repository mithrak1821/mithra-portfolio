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LAYOU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LAYOU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Mithra K  |  Medicare Healthcare Database Analysis</a:t>
            </a:r>
            <a:endParaRPr lang="en-US" sz="1000" dirty="0"/>
          </a:p>
        </p:txBody>
      </p:sp>
      <p:sp>
        <p:nvSpPr>
          <p:cNvPr id="3" name="Text 1"/>
          <p:cNvSpPr/>
          <p:nvPr>
            <p:ph idx="101" type="title" hasCustomPrompt="1"/>
          </p:nvPr>
        </p:nvSpPr>
        <p:spPr>
          <a:xfrm>
            <a:off x="640080" y="502920"/>
            <a:ext cx="10881360" cy="640080"/>
          </a:xfrm>
          <a:prstGeom prst="rect">
            <a:avLst/>
          </a:prstGeom>
          <a:noFill/>
          <a:ln/>
        </p:spPr>
        <p:txBody>
          <a:bodyPr wrap="square" rtlCol="0"/>
          <a:lstStyle>
            <a:lvl1pPr algn="l" indent="0" marL="0">
              <a:buNone/>
              <a:defRPr lang="en-US" sz="3400" b="1" dirty="0">
                <a:solidFill>
                  <a:schemeClr val="bg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371600" y="1737360"/>
            <a:ext cx="9445752" cy="365760"/>
          </a:xfrm>
          <a:prstGeom prst="rect">
            <a:avLst/>
          </a:prstGeom>
          <a:noFill/>
          <a:ln/>
          <a:effectLst>
            <a:outerShdw sx="100000" sy="100000" kx="0" ky="0" algn="bl" rotWithShape="0" blurRad="50800" dist="25400" dir="2700000">
              <a:srgbClr val="000000">
                <a:alpha val="35000"/>
              </a:srgbClr>
            </a:outerShdw>
          </a:effectLst>
        </p:spPr>
        <p:txBody>
          <a:bodyPr wrap="square" lIns="0" tIns="0" rIns="0" bIns="0" rtlCol="0" anchor="ctr"/>
          <a:lstStyle/>
          <a:p>
            <a:pPr algn="ctr" indent="0" marL="0">
              <a:buNone/>
            </a:pPr>
            <a:r>
              <a:rPr lang="en-US" sz="1500" b="1" spc="800" kern="0" dirty="0">
                <a:solidFill>
                  <a:schemeClr val="bg1"/>
                </a:solidFill>
                <a:latin typeface="Calibri" pitchFamily="34" charset="0"/>
                <a:ea typeface="Calibri" pitchFamily="34" charset="-122"/>
                <a:cs typeface="Calibri" pitchFamily="34" charset="-120"/>
              </a:rPr>
              <a:t>MEDICARE</a:t>
            </a:r>
            <a:endParaRPr lang="en-US" sz="1500" dirty="0"/>
          </a:p>
        </p:txBody>
      </p:sp>
      <p:sp>
        <p:nvSpPr>
          <p:cNvPr id="3" name="Text 1"/>
          <p:cNvSpPr txBox="1"/>
          <p:nvPr/>
        </p:nvSpPr>
        <p:spPr>
          <a:xfrm>
            <a:off x="914400" y="2194560"/>
            <a:ext cx="10360152" cy="1005840"/>
          </a:xfrm>
          <a:prstGeom prst="rect">
            <a:avLst/>
          </a:prstGeom>
          <a:noFill/>
          <a:ln/>
          <a:effectLst>
            <a:outerShdw sx="100000" sy="100000" kx="0" ky="0" algn="bl" rotWithShape="0" blurRad="50800" dist="25400" dir="2700000">
              <a:srgbClr val="000000">
                <a:alpha val="35000"/>
              </a:srgbClr>
            </a:outerShdw>
          </a:effectLst>
        </p:spPr>
        <p:txBody>
          <a:bodyPr wrap="square" lIns="0" tIns="0" rIns="0" bIns="0" rtlCol="0" anchor="ctr"/>
          <a:lstStyle/>
          <a:p>
            <a:pPr algn="ctr" indent="0" marL="0">
              <a:buNone/>
            </a:pPr>
            <a:r>
              <a:rPr lang="en-US" sz="5000" b="1" dirty="0">
                <a:solidFill>
                  <a:schemeClr val="bg1"/>
                </a:solidFill>
                <a:latin typeface="Arial" pitchFamily="34" charset="0"/>
                <a:ea typeface="Arial" pitchFamily="34" charset="-122"/>
                <a:cs typeface="Arial" pitchFamily="34" charset="-120"/>
              </a:rPr>
              <a:t>Healthcare Database Analysis</a:t>
            </a:r>
            <a:endParaRPr lang="en-US" sz="5000" dirty="0"/>
          </a:p>
        </p:txBody>
      </p:sp>
      <p:sp>
        <p:nvSpPr>
          <p:cNvPr id="4" name="Text 2"/>
          <p:cNvSpPr txBox="1"/>
          <p:nvPr/>
        </p:nvSpPr>
        <p:spPr>
          <a:xfrm>
            <a:off x="914400" y="3337560"/>
            <a:ext cx="10360152" cy="457200"/>
          </a:xfrm>
          <a:prstGeom prst="rect">
            <a:avLst/>
          </a:prstGeom>
          <a:noFill/>
          <a:ln/>
          <a:effectLst>
            <a:outerShdw sx="100000" sy="100000" kx="0" ky="0" algn="bl" rotWithShape="0" blurRad="50800" dist="25400" dir="2700000">
              <a:srgbClr val="000000">
                <a:alpha val="35000"/>
              </a:srgbClr>
            </a:outerShdw>
          </a:effectLst>
        </p:spPr>
        <p:txBody>
          <a:bodyPr wrap="square" lIns="0" tIns="0" rIns="0" bIns="0" rtlCol="0" anchor="ctr"/>
          <a:lstStyle/>
          <a:p>
            <a:pPr algn="ctr" indent="0" marL="0">
              <a:buNone/>
            </a:pPr>
            <a:r>
              <a:rPr lang="en-US" sz="2000" dirty="0">
                <a:solidFill>
                  <a:schemeClr val="bg1"/>
                </a:solidFill>
                <a:latin typeface="Calibri" pitchFamily="34" charset="0"/>
                <a:ea typeface="Calibri" pitchFamily="34" charset="-122"/>
                <a:cs typeface="Calibri" pitchFamily="34" charset="-120"/>
              </a:rPr>
              <a:t>Understanding Hospital Capacity, Admissions &amp; Billing Performance</a:t>
            </a:r>
            <a:endParaRPr lang="en-US" sz="2000" dirty="0"/>
          </a:p>
        </p:txBody>
      </p:sp>
      <p:sp>
        <p:nvSpPr>
          <p:cNvPr id="5" name="Text 3"/>
          <p:cNvSpPr txBox="1"/>
          <p:nvPr/>
        </p:nvSpPr>
        <p:spPr>
          <a:xfrm>
            <a:off x="1371600" y="5212080"/>
            <a:ext cx="9445752" cy="822960"/>
          </a:xfrm>
          <a:prstGeom prst="rect">
            <a:avLst/>
          </a:prstGeom>
          <a:noFill/>
          <a:ln/>
          <a:effectLst>
            <a:outerShdw sx="100000" sy="100000" kx="0" ky="0" algn="bl" rotWithShape="0" blurRad="50800" dist="25400" dir="2700000">
              <a:srgbClr val="000000">
                <a:alpha val="35000"/>
              </a:srgbClr>
            </a:outerShdw>
          </a:effectLst>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Mithra K</a:t>
            </a:r>
            <a:endParaRPr lang="en-US" sz="1800" dirty="0"/>
          </a:p>
          <a:p>
            <a:pPr algn="ctr" indent="0" marL="0">
              <a:buNone/>
            </a:pPr>
            <a:r>
              <a:rPr lang="en-US" sz="1400" dirty="0">
                <a:solidFill>
                  <a:schemeClr val="bg1"/>
                </a:solidFill>
                <a:latin typeface="Calibri" pitchFamily="34" charset="0"/>
                <a:ea typeface="Calibri" pitchFamily="34" charset="-122"/>
                <a:cs typeface="Calibri" pitchFamily="34" charset="-120"/>
              </a:rPr>
              <a:t>SQL Project | MySQL Relational Database Analysis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10881360" cy="64008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The Business Problem</a:t>
            </a:r>
            <a:endParaRPr lang="en-US" sz="3400" dirty="0"/>
          </a:p>
        </p:txBody>
      </p:sp>
      <p:sp>
        <p:nvSpPr>
          <p:cNvPr id="3" name="Text 1"/>
          <p:cNvSpPr txBox="1"/>
          <p:nvPr/>
        </p:nvSpPr>
        <p:spPr>
          <a:xfrm>
            <a:off x="640080" y="1280160"/>
            <a:ext cx="10881360" cy="868680"/>
          </a:xfrm>
          <a:prstGeom prst="rect">
            <a:avLst/>
          </a:prstGeom>
          <a:noFill/>
          <a:ln/>
        </p:spPr>
        <p:txBody>
          <a:bodyPr wrap="square" lIns="0" tIns="0" rIns="0" bIns="0" rtlCol="0" anchor="t"/>
          <a:lstStyle/>
          <a:p>
            <a:pPr indent="0" marL="0">
              <a:buNone/>
            </a:pPr>
            <a:r>
              <a:rPr lang="en-US" sz="1800" i="1" dirty="0">
                <a:solidFill>
                  <a:schemeClr val="accent5"/>
                </a:solidFill>
                <a:latin typeface="Calibri" pitchFamily="34" charset="0"/>
                <a:ea typeface="Calibri" pitchFamily="34" charset="-122"/>
                <a:cs typeface="Calibri" pitchFamily="34" charset="-120"/>
              </a:rPr>
              <a:t>How can Medicare improve hospital capacity planning, patient care delivery and revenue collection by understanding doctor availability, patient admissions and billing performance?</a:t>
            </a:r>
            <a:endParaRPr lang="en-US" sz="1800" dirty="0"/>
          </a:p>
        </p:txBody>
      </p:sp>
      <p:sp>
        <p:nvSpPr>
          <p:cNvPr id="4" name="Context card"/>
          <p:cNvSpPr/>
          <p:nvPr/>
        </p:nvSpPr>
        <p:spPr>
          <a:xfrm>
            <a:off x="640080" y="2331720"/>
            <a:ext cx="10881360" cy="1325880"/>
          </a:xfrm>
          <a:prstGeom prst="rect">
            <a:avLst/>
          </a:prstGeom>
          <a:solidFill>
            <a:schemeClr val="bg1">
              <a:alpha val="94000"/>
            </a:schemeClr>
          </a:solidFill>
          <a:ln w="12700">
            <a:solidFill>
              <a:schemeClr val="bg1"/>
            </a:solidFill>
            <a:prstDash val="solid"/>
          </a:ln>
          <a:effectLst>
            <a:outerShdw sx="100000" sy="100000" kx="0" ky="0" algn="bl" rotWithShape="0" blurRad="76200" dist="25400" dir="5400000">
              <a:srgbClr val="000000">
                <a:alpha val="30000"/>
              </a:srgbClr>
            </a:outerShdw>
          </a:effectLst>
        </p:spPr>
        <p:txBody>
          <a:bodyPr/>
          <a:p/>
        </p:txBody>
      </p:sp>
      <p:sp>
        <p:nvSpPr>
          <p:cNvPr id="5" name="Text 3"/>
          <p:cNvSpPr txBox="1"/>
          <p:nvPr/>
        </p:nvSpPr>
        <p:spPr>
          <a:xfrm>
            <a:off x="960120" y="2395728"/>
            <a:ext cx="10241280" cy="118872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Medicare serves patients through hospitals, departments and doctors, and every visit creates data from registration to billing. This data is not yet answering key questions: which hospitals and specializations carry the most doctors, how admissions are distributed, and how billed revenue splits across room, doctor, medicine and lab charges. Data quality issues such as inconsistent gender values and malformed emails also make reporting less reliable.</a:t>
            </a:r>
            <a:endParaRPr lang="en-US" sz="1400" dirty="0"/>
          </a:p>
        </p:txBody>
      </p:sp>
      <p:sp>
        <p:nvSpPr>
          <p:cNvPr id="6" name="Card 1"/>
          <p:cNvSpPr/>
          <p:nvPr/>
        </p:nvSpPr>
        <p:spPr>
          <a:xfrm>
            <a:off x="640080" y="3886200"/>
            <a:ext cx="3456432" cy="2286000"/>
          </a:xfrm>
          <a:prstGeom prst="rect">
            <a:avLst/>
          </a:prstGeom>
          <a:solidFill>
            <a:schemeClr val="bg1">
              <a:alpha val="94000"/>
            </a:schemeClr>
          </a:solidFill>
          <a:ln w="12700">
            <a:solidFill>
              <a:schemeClr val="bg1"/>
            </a:solidFill>
            <a:prstDash val="solid"/>
          </a:ln>
          <a:effectLst>
            <a:outerShdw sx="100000" sy="100000" kx="0" ky="0" algn="bl" rotWithShape="0" blurRad="76200" dist="25400" dir="5400000">
              <a:srgbClr val="000000">
                <a:alpha val="30000"/>
              </a:srgbClr>
            </a:outerShdw>
          </a:effectLst>
        </p:spPr>
        <p:txBody>
          <a:bodyPr/>
          <a:p/>
        </p:txBody>
      </p:sp>
      <p:sp>
        <p:nvSpPr>
          <p:cNvPr id="7" name="Icon 1"/>
          <p:cNvSpPr/>
          <p:nvPr/>
        </p:nvSpPr>
        <p:spPr>
          <a:xfrm>
            <a:off x="914400" y="4023360"/>
            <a:ext cx="548640" cy="548640"/>
          </a:xfrm>
          <a:prstGeom prst="diamond">
            <a:avLst/>
          </a:prstGeom>
          <a:solidFill>
            <a:schemeClr val="accent1"/>
          </a:solidFill>
          <a:ln w="12700">
            <a:solidFill>
              <a:schemeClr val="accent1"/>
            </a:solidFill>
            <a:prstDash val="solid"/>
          </a:ln>
        </p:spPr>
        <p:txBody>
          <a:bodyPr/>
          <a:p/>
        </p:txBody>
      </p:sp>
      <p:sp>
        <p:nvSpPr>
          <p:cNvPr id="8" name="Text 6"/>
          <p:cNvSpPr txBox="1"/>
          <p:nvPr/>
        </p:nvSpPr>
        <p:spPr>
          <a:xfrm>
            <a:off x="914400" y="4023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Text 7"/>
          <p:cNvSpPr txBox="1"/>
          <p:nvPr/>
        </p:nvSpPr>
        <p:spPr>
          <a:xfrm>
            <a:off x="914400" y="4663440"/>
            <a:ext cx="290779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Capacity Concentration</a:t>
            </a:r>
            <a:endParaRPr lang="en-US" sz="1600" dirty="0"/>
          </a:p>
        </p:txBody>
      </p:sp>
      <p:sp>
        <p:nvSpPr>
          <p:cNvPr id="10" name="Text 8"/>
          <p:cNvSpPr txBox="1"/>
          <p:nvPr/>
        </p:nvSpPr>
        <p:spPr>
          <a:xfrm>
            <a:off x="914400" y="5047488"/>
            <a:ext cx="2907792" cy="10058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Doctor availability and bed capacity vary across hospitals and specializations.</a:t>
            </a:r>
            <a:endParaRPr lang="en-US" sz="1400" dirty="0"/>
          </a:p>
        </p:txBody>
      </p:sp>
      <p:sp>
        <p:nvSpPr>
          <p:cNvPr id="11" name="Card 2"/>
          <p:cNvSpPr/>
          <p:nvPr/>
        </p:nvSpPr>
        <p:spPr>
          <a:xfrm>
            <a:off x="4352544" y="3886200"/>
            <a:ext cx="3456432" cy="2286000"/>
          </a:xfrm>
          <a:prstGeom prst="rect">
            <a:avLst/>
          </a:prstGeom>
          <a:solidFill>
            <a:schemeClr val="bg1">
              <a:alpha val="94000"/>
            </a:schemeClr>
          </a:solidFill>
          <a:ln w="12700">
            <a:solidFill>
              <a:schemeClr val="bg1"/>
            </a:solidFill>
            <a:prstDash val="solid"/>
          </a:ln>
          <a:effectLst>
            <a:outerShdw sx="100000" sy="100000" kx="0" ky="0" algn="bl" rotWithShape="0" blurRad="76200" dist="25400" dir="5400000">
              <a:srgbClr val="000000">
                <a:alpha val="30000"/>
              </a:srgbClr>
            </a:outerShdw>
          </a:effectLst>
        </p:spPr>
        <p:txBody>
          <a:bodyPr/>
          <a:p/>
        </p:txBody>
      </p:sp>
      <p:sp>
        <p:nvSpPr>
          <p:cNvPr id="12" name="Icon 2"/>
          <p:cNvSpPr/>
          <p:nvPr/>
        </p:nvSpPr>
        <p:spPr>
          <a:xfrm>
            <a:off x="4626864" y="4023360"/>
            <a:ext cx="548640" cy="548640"/>
          </a:xfrm>
          <a:prstGeom prst="diamond">
            <a:avLst/>
          </a:prstGeom>
          <a:solidFill>
            <a:schemeClr val="accent1"/>
          </a:solidFill>
          <a:ln w="12700">
            <a:solidFill>
              <a:schemeClr val="accent1"/>
            </a:solidFill>
            <a:prstDash val="solid"/>
          </a:ln>
        </p:spPr>
        <p:txBody>
          <a:bodyPr/>
          <a:p/>
        </p:txBody>
      </p:sp>
      <p:sp>
        <p:nvSpPr>
          <p:cNvPr id="13" name="Text 11"/>
          <p:cNvSpPr txBox="1"/>
          <p:nvPr/>
        </p:nvSpPr>
        <p:spPr>
          <a:xfrm>
            <a:off x="4626864" y="4023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Text 12"/>
          <p:cNvSpPr txBox="1"/>
          <p:nvPr/>
        </p:nvSpPr>
        <p:spPr>
          <a:xfrm>
            <a:off x="4626864" y="4663440"/>
            <a:ext cx="290779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Workload &amp; Admissions</a:t>
            </a:r>
            <a:endParaRPr lang="en-US" sz="1600" dirty="0"/>
          </a:p>
        </p:txBody>
      </p:sp>
      <p:sp>
        <p:nvSpPr>
          <p:cNvPr id="15" name="Text 13"/>
          <p:cNvSpPr txBox="1"/>
          <p:nvPr/>
        </p:nvSpPr>
        <p:spPr>
          <a:xfrm>
            <a:off x="4626864" y="5047488"/>
            <a:ext cx="2907792" cy="10058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Appointment and admission volumes vary by department and hospital, with uneven workload behind them.</a:t>
            </a:r>
            <a:endParaRPr lang="en-US" sz="1400" dirty="0"/>
          </a:p>
        </p:txBody>
      </p:sp>
      <p:sp>
        <p:nvSpPr>
          <p:cNvPr id="16" name="Card 3"/>
          <p:cNvSpPr/>
          <p:nvPr/>
        </p:nvSpPr>
        <p:spPr>
          <a:xfrm>
            <a:off x="8065008" y="3886200"/>
            <a:ext cx="3456432" cy="2286000"/>
          </a:xfrm>
          <a:prstGeom prst="rect">
            <a:avLst/>
          </a:prstGeom>
          <a:solidFill>
            <a:schemeClr val="bg1">
              <a:alpha val="94000"/>
            </a:schemeClr>
          </a:solidFill>
          <a:ln w="12700">
            <a:solidFill>
              <a:schemeClr val="bg1"/>
            </a:solidFill>
            <a:prstDash val="solid"/>
          </a:ln>
          <a:effectLst>
            <a:outerShdw sx="100000" sy="100000" kx="0" ky="0" algn="bl" rotWithShape="0" blurRad="76200" dist="25400" dir="5400000">
              <a:srgbClr val="000000">
                <a:alpha val="30000"/>
              </a:srgbClr>
            </a:outerShdw>
          </a:effectLst>
        </p:spPr>
        <p:txBody>
          <a:bodyPr/>
          <a:p/>
        </p:txBody>
      </p:sp>
      <p:sp>
        <p:nvSpPr>
          <p:cNvPr id="17" name="Icon 3"/>
          <p:cNvSpPr/>
          <p:nvPr/>
        </p:nvSpPr>
        <p:spPr>
          <a:xfrm>
            <a:off x="8339328" y="4023360"/>
            <a:ext cx="548640" cy="548640"/>
          </a:xfrm>
          <a:prstGeom prst="diamond">
            <a:avLst/>
          </a:prstGeom>
          <a:solidFill>
            <a:schemeClr val="accent1"/>
          </a:solidFill>
          <a:ln w="12700">
            <a:solidFill>
              <a:schemeClr val="accent1"/>
            </a:solidFill>
            <a:prstDash val="solid"/>
          </a:ln>
        </p:spPr>
        <p:txBody>
          <a:bodyPr/>
          <a:p/>
        </p:txBody>
      </p:sp>
      <p:sp>
        <p:nvSpPr>
          <p:cNvPr id="18" name="Text 16"/>
          <p:cNvSpPr txBox="1"/>
          <p:nvPr/>
        </p:nvSpPr>
        <p:spPr>
          <a:xfrm>
            <a:off x="8339328" y="4023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Text 17"/>
          <p:cNvSpPr txBox="1"/>
          <p:nvPr/>
        </p:nvSpPr>
        <p:spPr>
          <a:xfrm>
            <a:off x="8339328" y="4663440"/>
            <a:ext cx="290779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Billing &amp; Collection</a:t>
            </a:r>
            <a:endParaRPr lang="en-US" sz="1600" dirty="0"/>
          </a:p>
        </p:txBody>
      </p:sp>
      <p:sp>
        <p:nvSpPr>
          <p:cNvPr id="20" name="Text 18"/>
          <p:cNvSpPr txBox="1"/>
          <p:nvPr/>
        </p:nvSpPr>
        <p:spPr>
          <a:xfrm>
            <a:off x="8339328" y="5047488"/>
            <a:ext cx="2907792" cy="10058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Room, doctor, medicine and lab charges aren't separated, and the gap between billed and collected stays hidden.</a:t>
            </a:r>
            <a:endParaRPr lang="en-US" sz="14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10881360" cy="64008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The Solution</a:t>
            </a:r>
            <a:endParaRPr lang="en-US" sz="3400" dirty="0"/>
          </a:p>
        </p:txBody>
      </p:sp>
      <p:sp>
        <p:nvSpPr>
          <p:cNvPr id="3" name="Text 1"/>
          <p:cNvSpPr txBox="1"/>
          <p:nvPr/>
        </p:nvSpPr>
        <p:spPr>
          <a:xfrm>
            <a:off x="640080" y="1280160"/>
            <a:ext cx="10881360" cy="45720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A SQL-based analysis that cleans the data and connects hospital capacity, patient admissions and revenue.</a:t>
            </a:r>
            <a:endParaRPr lang="en-US" sz="1600" dirty="0"/>
          </a:p>
        </p:txBody>
      </p:sp>
      <p:sp>
        <p:nvSpPr>
          <p:cNvPr id="4" name="Step 1"/>
          <p:cNvSpPr/>
          <p:nvPr/>
        </p:nvSpPr>
        <p:spPr>
          <a:xfrm>
            <a:off x="640080" y="1920240"/>
            <a:ext cx="548640" cy="548640"/>
          </a:xfrm>
          <a:prstGeom prst="diamond">
            <a:avLst/>
          </a:prstGeom>
          <a:solidFill>
            <a:schemeClr val="accent2"/>
          </a:solidFill>
          <a:ln w="12700">
            <a:solidFill>
              <a:schemeClr val="accent2"/>
            </a:solidFill>
            <a:prstDash val="solid"/>
          </a:ln>
        </p:spPr>
        <p:txBody>
          <a:bodyPr/>
          <a:p/>
        </p:txBody>
      </p:sp>
      <p:sp>
        <p:nvSpPr>
          <p:cNvPr id="5" name="Text 3"/>
          <p:cNvSpPr txBox="1"/>
          <p:nvPr/>
        </p:nvSpPr>
        <p:spPr>
          <a:xfrm>
            <a:off x="640080" y="192024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71600" y="1911096"/>
            <a:ext cx="5394960" cy="292608"/>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Improve data quality</a:t>
            </a:r>
            <a:endParaRPr lang="en-US" sz="1600" dirty="0"/>
          </a:p>
        </p:txBody>
      </p:sp>
      <p:sp>
        <p:nvSpPr>
          <p:cNvPr id="7" name="Text 5"/>
          <p:cNvSpPr txBox="1"/>
          <p:nvPr/>
        </p:nvSpPr>
        <p:spPr>
          <a:xfrm>
            <a:off x="1371600" y="2221992"/>
            <a:ext cx="5394960" cy="292608"/>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Standardize gender and email values and flag missing IDs.</a:t>
            </a:r>
            <a:endParaRPr lang="en-US" sz="1300" dirty="0"/>
          </a:p>
        </p:txBody>
      </p:sp>
      <p:sp>
        <p:nvSpPr>
          <p:cNvPr id="8" name="Step 2"/>
          <p:cNvSpPr/>
          <p:nvPr/>
        </p:nvSpPr>
        <p:spPr>
          <a:xfrm>
            <a:off x="640080" y="2743200"/>
            <a:ext cx="548640" cy="548640"/>
          </a:xfrm>
          <a:prstGeom prst="diamond">
            <a:avLst/>
          </a:prstGeom>
          <a:solidFill>
            <a:schemeClr val="accent2"/>
          </a:solidFill>
          <a:ln w="12700">
            <a:solidFill>
              <a:schemeClr val="accent2"/>
            </a:solidFill>
            <a:prstDash val="solid"/>
          </a:ln>
        </p:spPr>
        <p:txBody>
          <a:bodyPr/>
          <a:p/>
        </p:txBody>
      </p:sp>
      <p:sp>
        <p:nvSpPr>
          <p:cNvPr id="9" name="Text 7"/>
          <p:cNvSpPr txBox="1"/>
          <p:nvPr/>
        </p:nvSpPr>
        <p:spPr>
          <a:xfrm>
            <a:off x="640080" y="27432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371600" y="2734056"/>
            <a:ext cx="5394960" cy="292608"/>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Understand hospital capacity</a:t>
            </a:r>
            <a:endParaRPr lang="en-US" sz="1600" dirty="0"/>
          </a:p>
        </p:txBody>
      </p:sp>
      <p:sp>
        <p:nvSpPr>
          <p:cNvPr id="11" name="Text 9"/>
          <p:cNvSpPr txBox="1"/>
          <p:nvPr/>
        </p:nvSpPr>
        <p:spPr>
          <a:xfrm>
            <a:off x="1371600" y="3044952"/>
            <a:ext cx="5394960" cy="292608"/>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Analyze hospitals, departments, beds and doctors by specialization.</a:t>
            </a:r>
            <a:endParaRPr lang="en-US" sz="1300" dirty="0"/>
          </a:p>
        </p:txBody>
      </p:sp>
      <p:sp>
        <p:nvSpPr>
          <p:cNvPr id="12" name="Step 3"/>
          <p:cNvSpPr/>
          <p:nvPr/>
        </p:nvSpPr>
        <p:spPr>
          <a:xfrm>
            <a:off x="640080" y="3566160"/>
            <a:ext cx="548640" cy="548640"/>
          </a:xfrm>
          <a:prstGeom prst="diamond">
            <a:avLst/>
          </a:prstGeom>
          <a:solidFill>
            <a:schemeClr val="accent2"/>
          </a:solidFill>
          <a:ln w="12700">
            <a:solidFill>
              <a:schemeClr val="accent2"/>
            </a:solidFill>
            <a:prstDash val="solid"/>
          </a:ln>
        </p:spPr>
        <p:txBody>
          <a:bodyPr/>
          <a:p/>
        </p:txBody>
      </p:sp>
      <p:sp>
        <p:nvSpPr>
          <p:cNvPr id="13" name="Text 11"/>
          <p:cNvSpPr txBox="1"/>
          <p:nvPr/>
        </p:nvSpPr>
        <p:spPr>
          <a:xfrm>
            <a:off x="640080" y="356616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1371600" y="3557016"/>
            <a:ext cx="5394960" cy="292608"/>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Optimize doctor and department workload</a:t>
            </a:r>
            <a:endParaRPr lang="en-US" sz="1600" dirty="0"/>
          </a:p>
        </p:txBody>
      </p:sp>
      <p:sp>
        <p:nvSpPr>
          <p:cNvPr id="15" name="Text 13"/>
          <p:cNvSpPr txBox="1"/>
          <p:nvPr/>
        </p:nvSpPr>
        <p:spPr>
          <a:xfrm>
            <a:off x="1371600" y="3867912"/>
            <a:ext cx="5394960" cy="292608"/>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Find top hospitals and departments by doctors and workload.</a:t>
            </a:r>
            <a:endParaRPr lang="en-US" sz="1300" dirty="0"/>
          </a:p>
        </p:txBody>
      </p:sp>
      <p:sp>
        <p:nvSpPr>
          <p:cNvPr id="16" name="Step 4"/>
          <p:cNvSpPr/>
          <p:nvPr/>
        </p:nvSpPr>
        <p:spPr>
          <a:xfrm>
            <a:off x="640080" y="4389120"/>
            <a:ext cx="548640" cy="548640"/>
          </a:xfrm>
          <a:prstGeom prst="diamond">
            <a:avLst/>
          </a:prstGeom>
          <a:solidFill>
            <a:schemeClr val="accent2"/>
          </a:solidFill>
          <a:ln w="12700">
            <a:solidFill>
              <a:schemeClr val="accent2"/>
            </a:solidFill>
            <a:prstDash val="solid"/>
          </a:ln>
        </p:spPr>
        <p:txBody>
          <a:bodyPr/>
          <a:p/>
        </p:txBody>
      </p:sp>
      <p:sp>
        <p:nvSpPr>
          <p:cNvPr id="17" name="Text 15"/>
          <p:cNvSpPr txBox="1"/>
          <p:nvPr/>
        </p:nvSpPr>
        <p:spPr>
          <a:xfrm>
            <a:off x="640080" y="4389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1371600" y="4379976"/>
            <a:ext cx="5394960" cy="292608"/>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Strengthen admissions and clinical services</a:t>
            </a:r>
            <a:endParaRPr lang="en-US" sz="1600" dirty="0"/>
          </a:p>
        </p:txBody>
      </p:sp>
      <p:sp>
        <p:nvSpPr>
          <p:cNvPr id="19" name="Text 17"/>
          <p:cNvSpPr txBox="1"/>
          <p:nvPr/>
        </p:nvSpPr>
        <p:spPr>
          <a:xfrm>
            <a:off x="1371600" y="4690872"/>
            <a:ext cx="5394960" cy="292608"/>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Analyze admissions, length of stay, treatments, lab tests and medicines.</a:t>
            </a:r>
            <a:endParaRPr lang="en-US" sz="1300" dirty="0"/>
          </a:p>
        </p:txBody>
      </p:sp>
      <p:sp>
        <p:nvSpPr>
          <p:cNvPr id="20" name="Step 5"/>
          <p:cNvSpPr/>
          <p:nvPr/>
        </p:nvSpPr>
        <p:spPr>
          <a:xfrm>
            <a:off x="640080" y="5212080"/>
            <a:ext cx="548640" cy="548640"/>
          </a:xfrm>
          <a:prstGeom prst="diamond">
            <a:avLst/>
          </a:prstGeom>
          <a:solidFill>
            <a:schemeClr val="accent2"/>
          </a:solidFill>
          <a:ln w="12700">
            <a:solidFill>
              <a:schemeClr val="accent2"/>
            </a:solidFill>
            <a:prstDash val="solid"/>
          </a:ln>
        </p:spPr>
        <p:txBody>
          <a:bodyPr/>
          <a:p/>
        </p:txBody>
      </p:sp>
      <p:sp>
        <p:nvSpPr>
          <p:cNvPr id="21" name="Text 19"/>
          <p:cNvSpPr txBox="1"/>
          <p:nvPr/>
        </p:nvSpPr>
        <p:spPr>
          <a:xfrm>
            <a:off x="640080" y="521208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2" name="Text 20"/>
          <p:cNvSpPr txBox="1"/>
          <p:nvPr/>
        </p:nvSpPr>
        <p:spPr>
          <a:xfrm>
            <a:off x="1371600" y="5202936"/>
            <a:ext cx="5394960" cy="292608"/>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Strengthen revenue and collections</a:t>
            </a:r>
            <a:endParaRPr lang="en-US" sz="1600" dirty="0"/>
          </a:p>
        </p:txBody>
      </p:sp>
      <p:sp>
        <p:nvSpPr>
          <p:cNvPr id="23" name="Text 21"/>
          <p:cNvSpPr txBox="1"/>
          <p:nvPr/>
        </p:nvSpPr>
        <p:spPr>
          <a:xfrm>
            <a:off x="1371600" y="5513832"/>
            <a:ext cx="5394960" cy="292608"/>
          </a:xfrm>
          <a:prstGeom prst="rect">
            <a:avLst/>
          </a:prstGeom>
          <a:noFill/>
          <a:ln/>
        </p:spPr>
        <p:txBody>
          <a:bodyPr wrap="square" lIns="0" tIns="0" rIns="0" bIns="0" rtlCol="0" anchor="ctr"/>
          <a:lstStyle/>
          <a:p>
            <a:pPr indent="0" marL="0">
              <a:buNone/>
            </a:pPr>
            <a:r>
              <a:rPr lang="en-US" sz="1300" dirty="0">
                <a:solidFill>
                  <a:schemeClr val="accent5"/>
                </a:solidFill>
                <a:latin typeface="Calibri" pitchFamily="34" charset="0"/>
                <a:ea typeface="Calibri" pitchFamily="34" charset="-122"/>
                <a:cs typeface="Calibri" pitchFamily="34" charset="-120"/>
              </a:rPr>
              <a:t>Track revenue splits, payments collected and the billing gap.</a:t>
            </a:r>
            <a:endParaRPr lang="en-US" sz="1300" dirty="0"/>
          </a:p>
        </p:txBody>
      </p:sp>
      <p:sp>
        <p:nvSpPr>
          <p:cNvPr id="24" name="Tech panel"/>
          <p:cNvSpPr/>
          <p:nvPr/>
        </p:nvSpPr>
        <p:spPr>
          <a:xfrm>
            <a:off x="7086600" y="1920240"/>
            <a:ext cx="4434840" cy="4114800"/>
          </a:xfrm>
          <a:prstGeom prst="rect">
            <a:avLst/>
          </a:prstGeom>
          <a:solidFill>
            <a:schemeClr val="tx1">
              <a:alpha val="85000"/>
            </a:schemeClr>
          </a:solidFill>
          <a:ln w="12700">
            <a:solidFill>
              <a:schemeClr val="accent6"/>
            </a:solidFill>
            <a:prstDash val="solid"/>
          </a:ln>
        </p:spPr>
        <p:txBody>
          <a:bodyPr/>
          <a:p/>
        </p:txBody>
      </p:sp>
      <p:sp>
        <p:nvSpPr>
          <p:cNvPr id="25" name="Text 23"/>
          <p:cNvSpPr txBox="1"/>
          <p:nvPr/>
        </p:nvSpPr>
        <p:spPr>
          <a:xfrm>
            <a:off x="7406640" y="2148840"/>
            <a:ext cx="379476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BUILT WITH</a:t>
            </a:r>
            <a:endParaRPr lang="en-US" sz="1200" dirty="0"/>
          </a:p>
        </p:txBody>
      </p:sp>
      <p:sp>
        <p:nvSpPr>
          <p:cNvPr id="26" name="Text 24"/>
          <p:cNvSpPr txBox="1"/>
          <p:nvPr/>
        </p:nvSpPr>
        <p:spPr>
          <a:xfrm>
            <a:off x="7406640" y="2441448"/>
            <a:ext cx="3794760" cy="45720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MySQL &amp; SQL</a:t>
            </a:r>
            <a:endParaRPr lang="en-US" sz="2400" dirty="0"/>
          </a:p>
        </p:txBody>
      </p:sp>
      <p:sp>
        <p:nvSpPr>
          <p:cNvPr id="27" name="Text 25"/>
          <p:cNvSpPr txBox="1"/>
          <p:nvPr/>
        </p:nvSpPr>
        <p:spPr>
          <a:xfrm>
            <a:off x="7406640" y="3108960"/>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Querying</a:t>
            </a:r>
            <a:endParaRPr lang="en-US" sz="1400" dirty="0"/>
          </a:p>
        </p:txBody>
      </p:sp>
      <p:sp>
        <p:nvSpPr>
          <p:cNvPr id="28" name="Text 26"/>
          <p:cNvSpPr txBox="1"/>
          <p:nvPr/>
        </p:nvSpPr>
        <p:spPr>
          <a:xfrm>
            <a:off x="7406640" y="3401568"/>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SELECT, WHERE, GROUP BY, HAVING, ORDER BY, LIMIT</a:t>
            </a:r>
            <a:endParaRPr lang="en-US" sz="1200" dirty="0"/>
          </a:p>
        </p:txBody>
      </p:sp>
      <p:sp>
        <p:nvSpPr>
          <p:cNvPr id="29" name="Text 27"/>
          <p:cNvSpPr txBox="1"/>
          <p:nvPr/>
        </p:nvSpPr>
        <p:spPr>
          <a:xfrm>
            <a:off x="7406640" y="3822192"/>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Aggregation</a:t>
            </a:r>
            <a:endParaRPr lang="en-US" sz="1400" dirty="0"/>
          </a:p>
        </p:txBody>
      </p:sp>
      <p:sp>
        <p:nvSpPr>
          <p:cNvPr id="30" name="Text 28"/>
          <p:cNvSpPr txBox="1"/>
          <p:nvPr/>
        </p:nvSpPr>
        <p:spPr>
          <a:xfrm>
            <a:off x="7406640" y="4114800"/>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COUNT, SUM, AVG, MIN, MAX</a:t>
            </a:r>
            <a:endParaRPr lang="en-US" sz="1200" dirty="0"/>
          </a:p>
        </p:txBody>
      </p:sp>
      <p:sp>
        <p:nvSpPr>
          <p:cNvPr id="31" name="Text 29"/>
          <p:cNvSpPr txBox="1"/>
          <p:nvPr/>
        </p:nvSpPr>
        <p:spPr>
          <a:xfrm>
            <a:off x="7406640" y="4535424"/>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Joins &amp; Cleaning</a:t>
            </a:r>
            <a:endParaRPr lang="en-US" sz="1400" dirty="0"/>
          </a:p>
        </p:txBody>
      </p:sp>
      <p:sp>
        <p:nvSpPr>
          <p:cNvPr id="32" name="Text 30"/>
          <p:cNvSpPr txBox="1"/>
          <p:nvPr/>
        </p:nvSpPr>
        <p:spPr>
          <a:xfrm>
            <a:off x="7406640" y="4828032"/>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INNER JOIN, LEFT JOIN, CASE, UPDATE, REPLACE</a:t>
            </a:r>
            <a:endParaRPr lang="en-US" sz="1200" dirty="0"/>
          </a:p>
        </p:txBody>
      </p:sp>
      <p:sp>
        <p:nvSpPr>
          <p:cNvPr id="33" name="Text 31"/>
          <p:cNvSpPr txBox="1"/>
          <p:nvPr/>
        </p:nvSpPr>
        <p:spPr>
          <a:xfrm>
            <a:off x="7406640" y="5248656"/>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Window Functions</a:t>
            </a:r>
            <a:endParaRPr lang="en-US" sz="1400" dirty="0"/>
          </a:p>
        </p:txBody>
      </p:sp>
      <p:sp>
        <p:nvSpPr>
          <p:cNvPr id="34" name="Text 32"/>
          <p:cNvSpPr txBox="1"/>
          <p:nvPr/>
        </p:nvSpPr>
        <p:spPr>
          <a:xfrm>
            <a:off x="7406640" y="5541264"/>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ROW_NUMBER, RANK, LAG, LEAD</a:t>
            </a:r>
            <a:endParaRPr lang="en-US" sz="12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10881360" cy="640080"/>
          </a:xfrm>
          <a:prstGeom prst="rect">
            <a:avLst/>
          </a:prstGeom>
          <a:noFill/>
          <a:ln/>
        </p:spPr>
        <p:txBody>
          <a:bodyPr wrap="square" lIns="0" tIns="0" rIns="0" bIns="0" rtlCol="0" anchor="ctr"/>
          <a:lstStyle/>
          <a:p>
            <a:pPr algn="l" indent="0" marL="0">
              <a:buNone/>
            </a:pPr>
            <a:r>
              <a:rPr lang="en-US" sz="3400" b="1" dirty="0">
                <a:solidFill>
                  <a:schemeClr val="bg1"/>
                </a:solidFill>
                <a:latin typeface="Arial" pitchFamily="34" charset="0"/>
                <a:ea typeface="Arial" pitchFamily="34" charset="-122"/>
                <a:cs typeface="Arial" pitchFamily="34" charset="-120"/>
              </a:rPr>
              <a:t>Key Insights &amp; Recommendations</a:t>
            </a:r>
            <a:endParaRPr lang="en-US" sz="3400" dirty="0"/>
          </a:p>
        </p:txBody>
      </p:sp>
      <p:sp>
        <p:nvSpPr>
          <p:cNvPr id="3" name="Insights panel"/>
          <p:cNvSpPr/>
          <p:nvPr/>
        </p:nvSpPr>
        <p:spPr>
          <a:xfrm>
            <a:off x="640080" y="1691640"/>
            <a:ext cx="5394960" cy="4480560"/>
          </a:xfrm>
          <a:prstGeom prst="rect">
            <a:avLst/>
          </a:prstGeom>
          <a:solidFill>
            <a:schemeClr val="bg1">
              <a:alpha val="94000"/>
            </a:schemeClr>
          </a:solidFill>
          <a:ln w="12700">
            <a:solidFill>
              <a:schemeClr val="bg1"/>
            </a:solidFill>
            <a:prstDash val="solid"/>
          </a:ln>
          <a:effectLst>
            <a:outerShdw sx="100000" sy="100000" kx="0" ky="0" algn="bl" rotWithShape="0" blurRad="76200" dist="25400" dir="5400000">
              <a:srgbClr val="000000">
                <a:alpha val="30000"/>
              </a:srgbClr>
            </a:outerShdw>
          </a:effectLst>
        </p:spPr>
        <p:txBody>
          <a:bodyPr/>
          <a:p/>
        </p:txBody>
      </p:sp>
      <p:sp>
        <p:nvSpPr>
          <p:cNvPr id="4" name="Recommendations panel"/>
          <p:cNvSpPr/>
          <p:nvPr/>
        </p:nvSpPr>
        <p:spPr>
          <a:xfrm>
            <a:off x="6172200" y="1691640"/>
            <a:ext cx="5394960" cy="4480560"/>
          </a:xfrm>
          <a:prstGeom prst="rect">
            <a:avLst/>
          </a:prstGeom>
          <a:solidFill>
            <a:schemeClr val="accent1"/>
          </a:solidFill>
          <a:ln w="12700">
            <a:solidFill>
              <a:schemeClr val="accent6"/>
            </a:solidFill>
            <a:prstDash val="solid"/>
          </a:ln>
          <a:effectLst>
            <a:outerShdw sx="100000" sy="100000" kx="0" ky="0" algn="bl" rotWithShape="0" blurRad="76200" dist="25400" dir="5400000">
              <a:srgbClr val="000000">
                <a:alpha val="30000"/>
              </a:srgbClr>
            </a:outerShdw>
          </a:effectLst>
        </p:spPr>
        <p:txBody>
          <a:bodyPr/>
          <a:p/>
        </p:txBody>
      </p:sp>
      <p:sp>
        <p:nvSpPr>
          <p:cNvPr id="5" name="Text 3"/>
          <p:cNvSpPr txBox="1"/>
          <p:nvPr/>
        </p:nvSpPr>
        <p:spPr>
          <a:xfrm>
            <a:off x="914400" y="1828800"/>
            <a:ext cx="4846320" cy="320040"/>
          </a:xfrm>
          <a:prstGeom prst="rect">
            <a:avLst/>
          </a:prstGeom>
          <a:noFill/>
          <a:ln/>
        </p:spPr>
        <p:txBody>
          <a:bodyPr wrap="square" lIns="0" tIns="0" rIns="0" bIns="0" rtlCol="0" anchor="ctr"/>
          <a:lstStyle/>
          <a:p>
            <a:pPr indent="0" marL="0">
              <a:buNone/>
            </a:pPr>
            <a:r>
              <a:rPr lang="en-US" sz="1400" b="1" spc="300" kern="0" dirty="0">
                <a:solidFill>
                  <a:schemeClr val="accent1"/>
                </a:solidFill>
                <a:latin typeface="Calibri" pitchFamily="34" charset="0"/>
                <a:ea typeface="Calibri" pitchFamily="34" charset="-122"/>
                <a:cs typeface="Calibri" pitchFamily="34" charset="-120"/>
              </a:rPr>
              <a:t>INSIGHTS</a:t>
            </a:r>
            <a:endParaRPr lang="en-US" sz="1400" dirty="0"/>
          </a:p>
        </p:txBody>
      </p:sp>
      <p:sp>
        <p:nvSpPr>
          <p:cNvPr id="6" name="Text 4"/>
          <p:cNvSpPr txBox="1"/>
          <p:nvPr/>
        </p:nvSpPr>
        <p:spPr>
          <a:xfrm>
            <a:off x="6446520" y="1828800"/>
            <a:ext cx="4846320" cy="320040"/>
          </a:xfrm>
          <a:prstGeom prst="rect">
            <a:avLst/>
          </a:prstGeom>
          <a:noFill/>
          <a:ln/>
        </p:spPr>
        <p:txBody>
          <a:bodyPr wrap="square" lIns="0" tIns="0" rIns="0" bIns="0" rtlCol="0" anchor="ctr"/>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RECOMMENDATIONS</a:t>
            </a:r>
            <a:endParaRPr lang="en-US" sz="1400" dirty="0"/>
          </a:p>
        </p:txBody>
      </p:sp>
      <p:sp>
        <p:nvSpPr>
          <p:cNvPr id="7" name="Text 5"/>
          <p:cNvSpPr txBox="1"/>
          <p:nvPr/>
        </p:nvSpPr>
        <p:spPr>
          <a:xfrm>
            <a:off x="914400" y="2240280"/>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Data quality: </a:t>
            </a:r>
            <a:r>
              <a:rPr lang="en-US" sz="1500" dirty="0">
                <a:solidFill>
                  <a:schemeClr val="tx1"/>
                </a:solidFill>
                <a:latin typeface="Calibri" pitchFamily="34" charset="0"/>
                <a:ea typeface="Calibri" pitchFamily="34" charset="-122"/>
                <a:cs typeface="Calibri" pitchFamily="34" charset="-120"/>
              </a:rPr>
              <a:t>Gender, email and missing-ID gaps needed fixing before reporting.</a:t>
            </a:r>
            <a:endParaRPr lang="en-US" sz="1500" dirty="0"/>
          </a:p>
        </p:txBody>
      </p:sp>
      <p:sp>
        <p:nvSpPr>
          <p:cNvPr id="8" name="Text 6"/>
          <p:cNvSpPr txBox="1"/>
          <p:nvPr/>
        </p:nvSpPr>
        <p:spPr>
          <a:xfrm>
            <a:off x="6446520" y="2240280"/>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Fix data gaps at source with mandatory IDs and validation.</a:t>
            </a:r>
            <a:endParaRPr lang="en-US" sz="1500" dirty="0"/>
          </a:p>
        </p:txBody>
      </p:sp>
      <p:sp>
        <p:nvSpPr>
          <p:cNvPr id="9" name="Text 7"/>
          <p:cNvSpPr txBox="1"/>
          <p:nvPr/>
        </p:nvSpPr>
        <p:spPr>
          <a:xfrm>
            <a:off x="914400" y="2990088"/>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Hospital capacity: </a:t>
            </a:r>
            <a:r>
              <a:rPr lang="en-US" sz="1500" dirty="0">
                <a:solidFill>
                  <a:schemeClr val="tx1"/>
                </a:solidFill>
                <a:latin typeface="Calibri" pitchFamily="34" charset="0"/>
                <a:ea typeface="Calibri" pitchFamily="34" charset="-122"/>
                <a:cs typeface="Calibri" pitchFamily="34" charset="-120"/>
              </a:rPr>
              <a:t>Beds and doctors vary across hospitals and specializations.</a:t>
            </a:r>
            <a:endParaRPr lang="en-US" sz="1500" dirty="0"/>
          </a:p>
        </p:txBody>
      </p:sp>
      <p:sp>
        <p:nvSpPr>
          <p:cNvPr id="10" name="Text 8"/>
          <p:cNvSpPr txBox="1"/>
          <p:nvPr/>
        </p:nvSpPr>
        <p:spPr>
          <a:xfrm>
            <a:off x="6446520" y="2990088"/>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Balance doctor availability across hospitals and specializations.</a:t>
            </a:r>
            <a:endParaRPr lang="en-US" sz="1500" dirty="0"/>
          </a:p>
        </p:txBody>
      </p:sp>
      <p:sp>
        <p:nvSpPr>
          <p:cNvPr id="11" name="Text 9"/>
          <p:cNvSpPr txBox="1"/>
          <p:nvPr/>
        </p:nvSpPr>
        <p:spPr>
          <a:xfrm>
            <a:off x="914400" y="3739896"/>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Workload: </a:t>
            </a:r>
            <a:r>
              <a:rPr lang="en-US" sz="1500" dirty="0">
                <a:solidFill>
                  <a:schemeClr val="tx1"/>
                </a:solidFill>
                <a:latin typeface="Calibri" pitchFamily="34" charset="0"/>
                <a:ea typeface="Calibri" pitchFamily="34" charset="-122"/>
                <a:cs typeface="Calibri" pitchFamily="34" charset="-120"/>
              </a:rPr>
              <a:t>Appointments and admissions concentrate in specific departments and hospitals.</a:t>
            </a:r>
            <a:endParaRPr lang="en-US" sz="1500" dirty="0"/>
          </a:p>
        </p:txBody>
      </p:sp>
      <p:sp>
        <p:nvSpPr>
          <p:cNvPr id="12" name="Text 10"/>
          <p:cNvSpPr txBox="1"/>
          <p:nvPr/>
        </p:nvSpPr>
        <p:spPr>
          <a:xfrm>
            <a:off x="6446520" y="3739896"/>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Review high-workload departments and hospitals for staffing and beds.</a:t>
            </a:r>
            <a:endParaRPr lang="en-US" sz="1500" dirty="0"/>
          </a:p>
        </p:txBody>
      </p:sp>
      <p:sp>
        <p:nvSpPr>
          <p:cNvPr id="13" name="Text 11"/>
          <p:cNvSpPr txBox="1"/>
          <p:nvPr/>
        </p:nvSpPr>
        <p:spPr>
          <a:xfrm>
            <a:off x="914400" y="4489704"/>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Revenue mix: </a:t>
            </a:r>
            <a:r>
              <a:rPr lang="en-US" sz="1500" dirty="0">
                <a:solidFill>
                  <a:schemeClr val="tx1"/>
                </a:solidFill>
                <a:latin typeface="Calibri" pitchFamily="34" charset="0"/>
                <a:ea typeface="Calibri" pitchFamily="34" charset="-122"/>
                <a:cs typeface="Calibri" pitchFamily="34" charset="-120"/>
              </a:rPr>
              <a:t>Room, doctor, medicine, lab and other charges each contribute.</a:t>
            </a:r>
            <a:endParaRPr lang="en-US" sz="1500" dirty="0"/>
          </a:p>
        </p:txBody>
      </p:sp>
      <p:sp>
        <p:nvSpPr>
          <p:cNvPr id="14" name="Text 12"/>
          <p:cNvSpPr txBox="1"/>
          <p:nvPr/>
        </p:nvSpPr>
        <p:spPr>
          <a:xfrm>
            <a:off x="6446520" y="4489704"/>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Track room, doctor, medicine and lab revenue separately.</a:t>
            </a:r>
            <a:endParaRPr lang="en-US" sz="1500" dirty="0"/>
          </a:p>
        </p:txBody>
      </p:sp>
      <p:sp>
        <p:nvSpPr>
          <p:cNvPr id="15" name="Text 13"/>
          <p:cNvSpPr txBox="1"/>
          <p:nvPr/>
        </p:nvSpPr>
        <p:spPr>
          <a:xfrm>
            <a:off x="914400" y="5239512"/>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Collections: </a:t>
            </a:r>
            <a:r>
              <a:rPr lang="en-US" sz="1500" dirty="0">
                <a:solidFill>
                  <a:schemeClr val="tx1"/>
                </a:solidFill>
                <a:latin typeface="Calibri" pitchFamily="34" charset="0"/>
                <a:ea typeface="Calibri" pitchFamily="34" charset="-122"/>
                <a:cs typeface="Calibri" pitchFamily="34" charset="-120"/>
              </a:rPr>
              <a:t>The gap between billed and collected amounts shows follow-up areas.</a:t>
            </a:r>
            <a:endParaRPr lang="en-US" sz="1500" dirty="0"/>
          </a:p>
        </p:txBody>
      </p:sp>
      <p:sp>
        <p:nvSpPr>
          <p:cNvPr id="16" name="Text 14"/>
          <p:cNvSpPr txBox="1"/>
          <p:nvPr/>
        </p:nvSpPr>
        <p:spPr>
          <a:xfrm>
            <a:off x="6446520" y="5239512"/>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Monitor billed versus collected amounts to improve collections.</a:t>
            </a:r>
            <a:endParaRPr lang="en-US" sz="15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Medicare Prism">
  <a:themeElements>
    <a:clrScheme name="Medicare Prism">
      <a:dk1>
        <a:srgbClr val="1B1646"/>
      </a:dk1>
      <a:lt1>
        <a:srgbClr val="FFFFFF"/>
      </a:lt1>
      <a:dk2>
        <a:srgbClr val="2B2270"/>
      </a:dk2>
      <a:lt2>
        <a:srgbClr val="F1EDFB"/>
      </a:lt2>
      <a:accent1>
        <a:srgbClr val="5B3FA0"/>
      </a:accent1>
      <a:accent2>
        <a:srgbClr val="2A8BD8"/>
      </a:accent2>
      <a:accent3>
        <a:srgbClr val="D9559B"/>
      </a:accent3>
      <a:accent4>
        <a:srgbClr val="4A4570"/>
      </a:accent4>
      <a:accent5>
        <a:srgbClr val="DCD3F2"/>
      </a:accent5>
      <a:accent6>
        <a:srgbClr val="8E6BD0"/>
      </a:accent6>
      <a:hlink>
        <a:srgbClr val="2A8BD8"/>
      </a:hlink>
      <a:folHlink>
        <a:srgbClr val="8E6BD0"/>
      </a:folHlink>
    </a:clrScheme>
    <a:fontScheme name="Medicare Pris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2026-10-14T11:19:00Z</dcterms:created>
  <dcterms:modified xsi:type="dcterms:W3CDTF">2026-10-14T11:19:00Z</dcterms:modified>
</cp:coreProperties>
</file>