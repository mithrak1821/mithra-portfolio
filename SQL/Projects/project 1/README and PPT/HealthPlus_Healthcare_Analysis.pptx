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LAYOU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_LAYOU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latin typeface="Calibri" pitchFamily="34" charset="0"/>
                <a:ea typeface="Calibri" pitchFamily="34" charset="-122"/>
                <a:cs typeface="Calibri" pitchFamily="34" charset="-120"/>
              </a:rPr>
              <a:t>Mithra K  |  HealthPlus Healthcare Database Analysis</a:t>
            </a:r>
            <a:endParaRPr lang="en-US" sz="1000" dirty="0"/>
          </a:p>
        </p:txBody>
      </p:sp>
      <p:sp>
        <p:nvSpPr>
          <p:cNvPr id="3" name="Text 1"/>
          <p:cNvSpPr/>
          <p:nvPr>
            <p:ph idx="101" type="title" hasCustomPrompt="1"/>
          </p:nvPr>
        </p:nvSpPr>
        <p:spPr>
          <a:xfrm>
            <a:off x="640080" y="502920"/>
            <a:ext cx="9418320" cy="640080"/>
          </a:xfrm>
          <a:prstGeom prst="rect">
            <a:avLst/>
          </a:prstGeom>
          <a:noFill/>
          <a:ln/>
        </p:spPr>
        <p:txBody>
          <a:bodyPr wrap="square" rtlCol="0"/>
          <a:lstStyle>
            <a:lvl1pPr algn="l" indent="0" marL="0">
              <a:buNone/>
              <a:defRPr lang="en-US" sz="3200" b="1" dirty="0">
                <a:solidFill>
                  <a:schemeClr val="tx2"/>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46520" y="1600200"/>
            <a:ext cx="5120640" cy="365760"/>
          </a:xfrm>
          <a:prstGeom prst="rect">
            <a:avLst/>
          </a:prstGeom>
          <a:noFill/>
          <a:ln/>
        </p:spPr>
        <p:txBody>
          <a:bodyPr wrap="square" lIns="0" tIns="0" rIns="0" bIns="0" rtlCol="0" anchor="ctr"/>
          <a:lstStyle/>
          <a:p>
            <a:pPr indent="0" marL="0">
              <a:buNone/>
            </a:pPr>
            <a:r>
              <a:rPr lang="en-US" sz="1500" b="1" spc="600" kern="0" dirty="0">
                <a:solidFill>
                  <a:schemeClr val="accent2"/>
                </a:solidFill>
                <a:latin typeface="Calibri" pitchFamily="34" charset="0"/>
                <a:ea typeface="Calibri" pitchFamily="34" charset="-122"/>
                <a:cs typeface="Calibri" pitchFamily="34" charset="-120"/>
              </a:rPr>
              <a:t>HEALTHPLUS</a:t>
            </a:r>
            <a:endParaRPr lang="en-US" sz="1500" dirty="0"/>
          </a:p>
        </p:txBody>
      </p:sp>
      <p:sp>
        <p:nvSpPr>
          <p:cNvPr id="3" name="Text 1"/>
          <p:cNvSpPr txBox="1"/>
          <p:nvPr/>
        </p:nvSpPr>
        <p:spPr>
          <a:xfrm>
            <a:off x="6446520" y="2011680"/>
            <a:ext cx="5120640" cy="1600200"/>
          </a:xfrm>
          <a:prstGeom prst="rect">
            <a:avLst/>
          </a:prstGeom>
          <a:noFill/>
          <a:ln/>
        </p:spPr>
        <p:txBody>
          <a:bodyPr wrap="square" lIns="0" tIns="0" rIns="0" bIns="0" rtlCol="0" anchor="t"/>
          <a:lstStyle/>
          <a:p>
            <a:pPr indent="0" marL="0">
              <a:buNone/>
            </a:pPr>
            <a:r>
              <a:rPr lang="en-US" sz="4400" b="1" dirty="0">
                <a:solidFill>
                  <a:schemeClr val="tx2"/>
                </a:solidFill>
                <a:latin typeface="Arial" pitchFamily="34" charset="0"/>
                <a:ea typeface="Arial" pitchFamily="34" charset="-122"/>
                <a:cs typeface="Arial" pitchFamily="34" charset="-120"/>
              </a:rPr>
              <a:t>Healthcare Database Analysis</a:t>
            </a:r>
            <a:endParaRPr lang="en-US" sz="4400" dirty="0"/>
          </a:p>
        </p:txBody>
      </p:sp>
      <p:sp>
        <p:nvSpPr>
          <p:cNvPr id="4" name="Text 2"/>
          <p:cNvSpPr txBox="1"/>
          <p:nvPr/>
        </p:nvSpPr>
        <p:spPr>
          <a:xfrm>
            <a:off x="6446520" y="3703320"/>
            <a:ext cx="5212080" cy="822960"/>
          </a:xfrm>
          <a:prstGeom prst="rect">
            <a:avLst/>
          </a:prstGeom>
          <a:noFill/>
          <a:ln/>
        </p:spPr>
        <p:txBody>
          <a:bodyPr wrap="square" lIns="0" tIns="0" rIns="0" bIns="0" rtlCol="0" anchor="t"/>
          <a:lstStyle/>
          <a:p>
            <a:pPr indent="0" marL="0">
              <a:buNone/>
            </a:pPr>
            <a:r>
              <a:rPr lang="en-US" sz="1700" spc="100" kern="0" dirty="0">
                <a:solidFill>
                  <a:schemeClr val="accent1"/>
                </a:solidFill>
                <a:latin typeface="Calibri" pitchFamily="34" charset="0"/>
                <a:ea typeface="Calibri" pitchFamily="34" charset="-122"/>
                <a:cs typeface="Calibri" pitchFamily="34" charset="-120"/>
              </a:rPr>
              <a:t>Understanding Member Demand, Consultations &amp; Revenue Performance</a:t>
            </a:r>
            <a:endParaRPr lang="en-US" sz="1700" dirty="0"/>
          </a:p>
        </p:txBody>
      </p:sp>
      <p:sp>
        <p:nvSpPr>
          <p:cNvPr id="5" name="Author bar"/>
          <p:cNvSpPr/>
          <p:nvPr/>
        </p:nvSpPr>
        <p:spPr>
          <a:xfrm>
            <a:off x="6446520" y="4892040"/>
            <a:ext cx="4937760" cy="868680"/>
          </a:xfrm>
          <a:prstGeom prst="rect">
            <a:avLst/>
          </a:prstGeom>
          <a:solidFill>
            <a:schemeClr val="accent1"/>
          </a:solidFill>
          <a:ln w="12700">
            <a:solidFill>
              <a:schemeClr val="accent1"/>
            </a:solidFill>
            <a:prstDash val="solid"/>
          </a:ln>
        </p:spPr>
        <p:txBody>
          <a:bodyPr/>
          <a:p/>
        </p:txBody>
      </p:sp>
      <p:sp>
        <p:nvSpPr>
          <p:cNvPr id="6" name="Text 4"/>
          <p:cNvSpPr txBox="1"/>
          <p:nvPr/>
        </p:nvSpPr>
        <p:spPr>
          <a:xfrm>
            <a:off x="6675120" y="4937760"/>
            <a:ext cx="4572000" cy="77724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Mithra K</a:t>
            </a:r>
            <a:endParaRPr lang="en-US" sz="1800" dirty="0"/>
          </a:p>
          <a:p>
            <a:pPr indent="0" marL="0">
              <a:buNone/>
            </a:pPr>
            <a:r>
              <a:rPr lang="en-US" sz="1300" dirty="0">
                <a:solidFill>
                  <a:schemeClr val="bg1"/>
                </a:solidFill>
                <a:latin typeface="Calibri" pitchFamily="34" charset="0"/>
                <a:ea typeface="Calibri" pitchFamily="34" charset="-122"/>
                <a:cs typeface="Calibri" pitchFamily="34" charset="-120"/>
              </a:rPr>
              <a:t>SQL Project | MySQL Relational Database Analysis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9418320" cy="64008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The Business Problem</a:t>
            </a:r>
            <a:endParaRPr lang="en-US" sz="3200" dirty="0"/>
          </a:p>
        </p:txBody>
      </p:sp>
      <p:sp>
        <p:nvSpPr>
          <p:cNvPr id="3" name="Text 1"/>
          <p:cNvSpPr txBox="1"/>
          <p:nvPr/>
        </p:nvSpPr>
        <p:spPr>
          <a:xfrm>
            <a:off x="640080" y="1280160"/>
            <a:ext cx="9144000" cy="868680"/>
          </a:xfrm>
          <a:prstGeom prst="rect">
            <a:avLst/>
          </a:prstGeom>
          <a:noFill/>
          <a:ln/>
        </p:spPr>
        <p:txBody>
          <a:bodyPr wrap="square" lIns="0" tIns="0" rIns="0" bIns="0" rtlCol="0" anchor="t"/>
          <a:lstStyle/>
          <a:p>
            <a:pPr indent="0" marL="0">
              <a:buNone/>
            </a:pPr>
            <a:r>
              <a:rPr lang="en-US" sz="1800" i="1" dirty="0">
                <a:solidFill>
                  <a:schemeClr val="accent1"/>
                </a:solidFill>
                <a:latin typeface="Calibri" pitchFamily="34" charset="0"/>
                <a:ea typeface="Calibri" pitchFamily="34" charset="-122"/>
                <a:cs typeface="Calibri" pitchFamily="34" charset="-120"/>
              </a:rPr>
              <a:t>How can HealthPlus improve healthcare utilization and revenue by understanding member demand, consultation activity and billing performance?</a:t>
            </a:r>
            <a:endParaRPr lang="en-US" sz="1800" dirty="0"/>
          </a:p>
        </p:txBody>
      </p:sp>
      <p:sp>
        <p:nvSpPr>
          <p:cNvPr id="4" name="Context card"/>
          <p:cNvSpPr/>
          <p:nvPr/>
        </p:nvSpPr>
        <p:spPr>
          <a:xfrm>
            <a:off x="640080" y="2331720"/>
            <a:ext cx="10881360" cy="1325880"/>
          </a:xfrm>
          <a:prstGeom prst="rect">
            <a:avLst/>
          </a:prstGeom>
          <a:solidFill>
            <a:schemeClr val="bg2"/>
          </a:solidFill>
          <a:ln w="12700">
            <a:solidFill>
              <a:schemeClr val="accent5"/>
            </a:solidFill>
            <a:prstDash val="solid"/>
          </a:ln>
        </p:spPr>
        <p:txBody>
          <a:bodyPr/>
          <a:p/>
        </p:txBody>
      </p:sp>
      <p:sp>
        <p:nvSpPr>
          <p:cNvPr id="5" name="Text 3"/>
          <p:cNvSpPr txBox="1"/>
          <p:nvPr/>
        </p:nvSpPr>
        <p:spPr>
          <a:xfrm>
            <a:off x="960120" y="2395728"/>
            <a:ext cx="10241280" cy="118872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HealthPlus serves members through clinics and specialists, and every visit creates data from registration to billing. This data is not yet answering key questions: which cities and membership types drive demand, which clinics and specializations are busiest, and how revenue splits across consultation, lab and medicine charges. Data quality issues such as inconsistent gender values and malformed emails also make reporting less reliable.</a:t>
            </a:r>
            <a:endParaRPr lang="en-US" sz="1400" dirty="0"/>
          </a:p>
        </p:txBody>
      </p:sp>
      <p:sp>
        <p:nvSpPr>
          <p:cNvPr id="6" name="Card 1"/>
          <p:cNvSpPr/>
          <p:nvPr/>
        </p:nvSpPr>
        <p:spPr>
          <a:xfrm>
            <a:off x="640080" y="3886200"/>
            <a:ext cx="3456432" cy="2286000"/>
          </a:xfrm>
          <a:prstGeom prst="rect">
            <a:avLst/>
          </a:prstGeom>
          <a:solidFill>
            <a:schemeClr val="bg1"/>
          </a:solidFill>
          <a:ln w="12700">
            <a:solidFill>
              <a:schemeClr val="accent5"/>
            </a:solidFill>
            <a:prstDash val="solid"/>
          </a:ln>
          <a:effectLst>
            <a:outerShdw sx="100000" sy="100000" kx="0" ky="0" algn="bl" rotWithShape="0" blurRad="101600" dist="25400" dir="5400000">
              <a:srgbClr val="421230">
                <a:alpha val="15000"/>
              </a:srgbClr>
            </a:outerShdw>
          </a:effectLst>
        </p:spPr>
        <p:txBody>
          <a:bodyPr/>
          <a:p/>
        </p:txBody>
      </p:sp>
      <p:sp>
        <p:nvSpPr>
          <p:cNvPr id="7" name="Icon 1"/>
          <p:cNvSpPr/>
          <p:nvPr/>
        </p:nvSpPr>
        <p:spPr>
          <a:xfrm>
            <a:off x="914400" y="4023360"/>
            <a:ext cx="548640" cy="548640"/>
          </a:xfrm>
          <a:prstGeom prst="diamond">
            <a:avLst/>
          </a:prstGeom>
          <a:solidFill>
            <a:schemeClr val="accent1"/>
          </a:solidFill>
          <a:ln w="12700">
            <a:solidFill>
              <a:schemeClr val="accent1"/>
            </a:solidFill>
            <a:prstDash val="solid"/>
          </a:ln>
        </p:spPr>
        <p:txBody>
          <a:bodyPr/>
          <a:p/>
        </p:txBody>
      </p:sp>
      <p:sp>
        <p:nvSpPr>
          <p:cNvPr id="8" name="Text 6"/>
          <p:cNvSpPr txBox="1"/>
          <p:nvPr/>
        </p:nvSpPr>
        <p:spPr>
          <a:xfrm>
            <a:off x="914400" y="4023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9" name="Text 7"/>
          <p:cNvSpPr txBox="1"/>
          <p:nvPr/>
        </p:nvSpPr>
        <p:spPr>
          <a:xfrm>
            <a:off x="914400" y="4663440"/>
            <a:ext cx="2907792"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Demand Concentration</a:t>
            </a:r>
            <a:endParaRPr lang="en-US" sz="1600" dirty="0"/>
          </a:p>
        </p:txBody>
      </p:sp>
      <p:sp>
        <p:nvSpPr>
          <p:cNvPr id="10" name="Text 8"/>
          <p:cNvSpPr txBox="1"/>
          <p:nvPr/>
        </p:nvSpPr>
        <p:spPr>
          <a:xfrm>
            <a:off x="914400" y="5047488"/>
            <a:ext cx="2907792" cy="10058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Which cities and membership types drive the most member demand and consultations?</a:t>
            </a:r>
            <a:endParaRPr lang="en-US" sz="1400" dirty="0"/>
          </a:p>
        </p:txBody>
      </p:sp>
      <p:sp>
        <p:nvSpPr>
          <p:cNvPr id="11" name="Card 2"/>
          <p:cNvSpPr/>
          <p:nvPr/>
        </p:nvSpPr>
        <p:spPr>
          <a:xfrm>
            <a:off x="4352544" y="3886200"/>
            <a:ext cx="3456432" cy="2286000"/>
          </a:xfrm>
          <a:prstGeom prst="rect">
            <a:avLst/>
          </a:prstGeom>
          <a:solidFill>
            <a:schemeClr val="bg1"/>
          </a:solidFill>
          <a:ln w="12700">
            <a:solidFill>
              <a:schemeClr val="accent5"/>
            </a:solidFill>
            <a:prstDash val="solid"/>
          </a:ln>
          <a:effectLst>
            <a:outerShdw sx="100000" sy="100000" kx="0" ky="0" algn="bl" rotWithShape="0" blurRad="101600" dist="25400" dir="5400000">
              <a:srgbClr val="421230">
                <a:alpha val="15000"/>
              </a:srgbClr>
            </a:outerShdw>
          </a:effectLst>
        </p:spPr>
        <p:txBody>
          <a:bodyPr/>
          <a:p/>
        </p:txBody>
      </p:sp>
      <p:sp>
        <p:nvSpPr>
          <p:cNvPr id="12" name="Icon 2"/>
          <p:cNvSpPr/>
          <p:nvPr/>
        </p:nvSpPr>
        <p:spPr>
          <a:xfrm>
            <a:off x="4626864" y="4023360"/>
            <a:ext cx="548640" cy="548640"/>
          </a:xfrm>
          <a:prstGeom prst="diamond">
            <a:avLst/>
          </a:prstGeom>
          <a:solidFill>
            <a:schemeClr val="accent1"/>
          </a:solidFill>
          <a:ln w="12700">
            <a:solidFill>
              <a:schemeClr val="accent1"/>
            </a:solidFill>
            <a:prstDash val="solid"/>
          </a:ln>
        </p:spPr>
        <p:txBody>
          <a:bodyPr/>
          <a:p/>
        </p:txBody>
      </p:sp>
      <p:sp>
        <p:nvSpPr>
          <p:cNvPr id="13" name="Text 11"/>
          <p:cNvSpPr txBox="1"/>
          <p:nvPr/>
        </p:nvSpPr>
        <p:spPr>
          <a:xfrm>
            <a:off x="4626864" y="4023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Text 12"/>
          <p:cNvSpPr txBox="1"/>
          <p:nvPr/>
        </p:nvSpPr>
        <p:spPr>
          <a:xfrm>
            <a:off x="4626864" y="4663440"/>
            <a:ext cx="2907792"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Clinic &amp; Specialist Load</a:t>
            </a:r>
            <a:endParaRPr lang="en-US" sz="1600" dirty="0"/>
          </a:p>
        </p:txBody>
      </p:sp>
      <p:sp>
        <p:nvSpPr>
          <p:cNvPr id="15" name="Text 13"/>
          <p:cNvSpPr txBox="1"/>
          <p:nvPr/>
        </p:nvSpPr>
        <p:spPr>
          <a:xfrm>
            <a:off x="4626864" y="5047488"/>
            <a:ext cx="2907792" cy="10058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Consultation volume varies by clinic and specialization, with uneven specialist availability behind it.</a:t>
            </a:r>
            <a:endParaRPr lang="en-US" sz="1400" dirty="0"/>
          </a:p>
        </p:txBody>
      </p:sp>
      <p:sp>
        <p:nvSpPr>
          <p:cNvPr id="16" name="Card 3"/>
          <p:cNvSpPr/>
          <p:nvPr/>
        </p:nvSpPr>
        <p:spPr>
          <a:xfrm>
            <a:off x="8065008" y="3886200"/>
            <a:ext cx="3456432" cy="2286000"/>
          </a:xfrm>
          <a:prstGeom prst="rect">
            <a:avLst/>
          </a:prstGeom>
          <a:solidFill>
            <a:schemeClr val="bg1"/>
          </a:solidFill>
          <a:ln w="12700">
            <a:solidFill>
              <a:schemeClr val="accent5"/>
            </a:solidFill>
            <a:prstDash val="solid"/>
          </a:ln>
          <a:effectLst>
            <a:outerShdw sx="100000" sy="100000" kx="0" ky="0" algn="bl" rotWithShape="0" blurRad="101600" dist="25400" dir="5400000">
              <a:srgbClr val="421230">
                <a:alpha val="15000"/>
              </a:srgbClr>
            </a:outerShdw>
          </a:effectLst>
        </p:spPr>
        <p:txBody>
          <a:bodyPr/>
          <a:p/>
        </p:txBody>
      </p:sp>
      <p:sp>
        <p:nvSpPr>
          <p:cNvPr id="17" name="Icon 3"/>
          <p:cNvSpPr/>
          <p:nvPr/>
        </p:nvSpPr>
        <p:spPr>
          <a:xfrm>
            <a:off x="8339328" y="4023360"/>
            <a:ext cx="548640" cy="548640"/>
          </a:xfrm>
          <a:prstGeom prst="diamond">
            <a:avLst/>
          </a:prstGeom>
          <a:solidFill>
            <a:schemeClr val="accent1"/>
          </a:solidFill>
          <a:ln w="12700">
            <a:solidFill>
              <a:schemeClr val="accent1"/>
            </a:solidFill>
            <a:prstDash val="solid"/>
          </a:ln>
        </p:spPr>
        <p:txBody>
          <a:bodyPr/>
          <a:p/>
        </p:txBody>
      </p:sp>
      <p:sp>
        <p:nvSpPr>
          <p:cNvPr id="18" name="Text 16"/>
          <p:cNvSpPr txBox="1"/>
          <p:nvPr/>
        </p:nvSpPr>
        <p:spPr>
          <a:xfrm>
            <a:off x="8339328" y="4023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9" name="Text 17"/>
          <p:cNvSpPr txBox="1"/>
          <p:nvPr/>
        </p:nvSpPr>
        <p:spPr>
          <a:xfrm>
            <a:off x="8339328" y="4663440"/>
            <a:ext cx="2907792"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Revenue Visibility</a:t>
            </a:r>
            <a:endParaRPr lang="en-US" sz="1600" dirty="0"/>
          </a:p>
        </p:txBody>
      </p:sp>
      <p:sp>
        <p:nvSpPr>
          <p:cNvPr id="20" name="Text 18"/>
          <p:cNvSpPr txBox="1"/>
          <p:nvPr/>
        </p:nvSpPr>
        <p:spPr>
          <a:xfrm>
            <a:off x="8339328" y="5047488"/>
            <a:ext cx="2907792" cy="100584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Consultation, lab and medicine charges aren't separated, hiding where earnings really come from.</a:t>
            </a:r>
            <a:endParaRPr lang="en-US" sz="14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9418320" cy="64008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The Solution</a:t>
            </a:r>
            <a:endParaRPr lang="en-US" sz="3200" dirty="0"/>
          </a:p>
        </p:txBody>
      </p:sp>
      <p:sp>
        <p:nvSpPr>
          <p:cNvPr id="3" name="Text 1"/>
          <p:cNvSpPr txBox="1"/>
          <p:nvPr/>
        </p:nvSpPr>
        <p:spPr>
          <a:xfrm>
            <a:off x="640080" y="1280160"/>
            <a:ext cx="9144000" cy="457200"/>
          </a:xfrm>
          <a:prstGeom prst="rect">
            <a:avLst/>
          </a:prstGeom>
          <a:noFill/>
          <a:ln/>
        </p:spPr>
        <p:txBody>
          <a:bodyPr wrap="square" lIns="0" tIns="0" rIns="0" bIns="0" rtlCol="0" anchor="t"/>
          <a:lstStyle/>
          <a:p>
            <a:pPr indent="0" marL="0">
              <a:buNone/>
            </a:pPr>
            <a:r>
              <a:rPr lang="en-US" sz="1600" dirty="0">
                <a:solidFill>
                  <a:schemeClr val="accent4"/>
                </a:solidFill>
                <a:latin typeface="Calibri" pitchFamily="34" charset="0"/>
                <a:ea typeface="Calibri" pitchFamily="34" charset="-122"/>
                <a:cs typeface="Calibri" pitchFamily="34" charset="-120"/>
              </a:rPr>
              <a:t>A SQL-based analysis that cleans the data and connects member demand, clinic capacity and revenue.</a:t>
            </a:r>
            <a:endParaRPr lang="en-US" sz="1600" dirty="0"/>
          </a:p>
        </p:txBody>
      </p:sp>
      <p:sp>
        <p:nvSpPr>
          <p:cNvPr id="4" name="Step 1"/>
          <p:cNvSpPr/>
          <p:nvPr/>
        </p:nvSpPr>
        <p:spPr>
          <a:xfrm>
            <a:off x="640080" y="1920240"/>
            <a:ext cx="548640" cy="548640"/>
          </a:xfrm>
          <a:prstGeom prst="diamond">
            <a:avLst/>
          </a:prstGeom>
          <a:solidFill>
            <a:schemeClr val="accent1"/>
          </a:solidFill>
          <a:ln w="12700">
            <a:solidFill>
              <a:schemeClr val="accent1"/>
            </a:solidFill>
            <a:prstDash val="solid"/>
          </a:ln>
        </p:spPr>
        <p:txBody>
          <a:bodyPr/>
          <a:p/>
        </p:txBody>
      </p:sp>
      <p:sp>
        <p:nvSpPr>
          <p:cNvPr id="5" name="Text 3"/>
          <p:cNvSpPr txBox="1"/>
          <p:nvPr/>
        </p:nvSpPr>
        <p:spPr>
          <a:xfrm>
            <a:off x="640080" y="192024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371600" y="1911096"/>
            <a:ext cx="5394960" cy="2926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Improve data quality</a:t>
            </a:r>
            <a:endParaRPr lang="en-US" sz="1600" dirty="0"/>
          </a:p>
        </p:txBody>
      </p:sp>
      <p:sp>
        <p:nvSpPr>
          <p:cNvPr id="7" name="Text 5"/>
          <p:cNvSpPr txBox="1"/>
          <p:nvPr/>
        </p:nvSpPr>
        <p:spPr>
          <a:xfrm>
            <a:off x="1371600" y="2221992"/>
            <a:ext cx="5394960" cy="292608"/>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Standardize gender and email values and flag missing IDs.</a:t>
            </a:r>
            <a:endParaRPr lang="en-US" sz="1300" dirty="0"/>
          </a:p>
        </p:txBody>
      </p:sp>
      <p:sp>
        <p:nvSpPr>
          <p:cNvPr id="8" name="Step 2"/>
          <p:cNvSpPr/>
          <p:nvPr/>
        </p:nvSpPr>
        <p:spPr>
          <a:xfrm>
            <a:off x="640080" y="2743200"/>
            <a:ext cx="548640" cy="548640"/>
          </a:xfrm>
          <a:prstGeom prst="diamond">
            <a:avLst/>
          </a:prstGeom>
          <a:solidFill>
            <a:schemeClr val="accent1"/>
          </a:solidFill>
          <a:ln w="12700">
            <a:solidFill>
              <a:schemeClr val="accent1"/>
            </a:solidFill>
            <a:prstDash val="solid"/>
          </a:ln>
        </p:spPr>
        <p:txBody>
          <a:bodyPr/>
          <a:p/>
        </p:txBody>
      </p:sp>
      <p:sp>
        <p:nvSpPr>
          <p:cNvPr id="9" name="Text 7"/>
          <p:cNvSpPr txBox="1"/>
          <p:nvPr/>
        </p:nvSpPr>
        <p:spPr>
          <a:xfrm>
            <a:off x="640080" y="274320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371600" y="2734056"/>
            <a:ext cx="5394960" cy="2926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Understand member demand</a:t>
            </a:r>
            <a:endParaRPr lang="en-US" sz="1600" dirty="0"/>
          </a:p>
        </p:txBody>
      </p:sp>
      <p:sp>
        <p:nvSpPr>
          <p:cNvPr id="11" name="Text 9"/>
          <p:cNvSpPr txBox="1"/>
          <p:nvPr/>
        </p:nvSpPr>
        <p:spPr>
          <a:xfrm>
            <a:off x="1371600" y="3044952"/>
            <a:ext cx="5394960" cy="292608"/>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Analyze members by city, membership type and gender.</a:t>
            </a:r>
            <a:endParaRPr lang="en-US" sz="1300" dirty="0"/>
          </a:p>
        </p:txBody>
      </p:sp>
      <p:sp>
        <p:nvSpPr>
          <p:cNvPr id="12" name="Step 3"/>
          <p:cNvSpPr/>
          <p:nvPr/>
        </p:nvSpPr>
        <p:spPr>
          <a:xfrm>
            <a:off x="640080" y="3566160"/>
            <a:ext cx="548640" cy="548640"/>
          </a:xfrm>
          <a:prstGeom prst="diamond">
            <a:avLst/>
          </a:prstGeom>
          <a:solidFill>
            <a:schemeClr val="accent1"/>
          </a:solidFill>
          <a:ln w="12700">
            <a:solidFill>
              <a:schemeClr val="accent1"/>
            </a:solidFill>
            <a:prstDash val="solid"/>
          </a:ln>
        </p:spPr>
        <p:txBody>
          <a:bodyPr/>
          <a:p/>
        </p:txBody>
      </p:sp>
      <p:sp>
        <p:nvSpPr>
          <p:cNvPr id="13" name="Text 11"/>
          <p:cNvSpPr txBox="1"/>
          <p:nvPr/>
        </p:nvSpPr>
        <p:spPr>
          <a:xfrm>
            <a:off x="640080" y="356616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1371600" y="3557016"/>
            <a:ext cx="5394960" cy="2926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Optimize clinic and specialist capacity</a:t>
            </a:r>
            <a:endParaRPr lang="en-US" sz="1600" dirty="0"/>
          </a:p>
        </p:txBody>
      </p:sp>
      <p:sp>
        <p:nvSpPr>
          <p:cNvPr id="15" name="Text 13"/>
          <p:cNvSpPr txBox="1"/>
          <p:nvPr/>
        </p:nvSpPr>
        <p:spPr>
          <a:xfrm>
            <a:off x="1371600" y="3867912"/>
            <a:ext cx="5394960" cy="292608"/>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Find top clinics and specializations with 100+ consultations.</a:t>
            </a:r>
            <a:endParaRPr lang="en-US" sz="1300" dirty="0"/>
          </a:p>
        </p:txBody>
      </p:sp>
      <p:sp>
        <p:nvSpPr>
          <p:cNvPr id="16" name="Step 4"/>
          <p:cNvSpPr/>
          <p:nvPr/>
        </p:nvSpPr>
        <p:spPr>
          <a:xfrm>
            <a:off x="640080" y="4389120"/>
            <a:ext cx="548640" cy="548640"/>
          </a:xfrm>
          <a:prstGeom prst="diamond">
            <a:avLst/>
          </a:prstGeom>
          <a:solidFill>
            <a:schemeClr val="accent1"/>
          </a:solidFill>
          <a:ln w="12700">
            <a:solidFill>
              <a:schemeClr val="accent1"/>
            </a:solidFill>
            <a:prstDash val="solid"/>
          </a:ln>
        </p:spPr>
        <p:txBody>
          <a:bodyPr/>
          <a:p/>
        </p:txBody>
      </p:sp>
      <p:sp>
        <p:nvSpPr>
          <p:cNvPr id="17" name="Text 15"/>
          <p:cNvSpPr txBox="1"/>
          <p:nvPr/>
        </p:nvSpPr>
        <p:spPr>
          <a:xfrm>
            <a:off x="640080" y="43891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1371600" y="4379976"/>
            <a:ext cx="5394960" cy="2926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Strengthen revenue and claims management</a:t>
            </a:r>
            <a:endParaRPr lang="en-US" sz="1600" dirty="0"/>
          </a:p>
        </p:txBody>
      </p:sp>
      <p:sp>
        <p:nvSpPr>
          <p:cNvPr id="19" name="Text 17"/>
          <p:cNvSpPr txBox="1"/>
          <p:nvPr/>
        </p:nvSpPr>
        <p:spPr>
          <a:xfrm>
            <a:off x="1371600" y="4690872"/>
            <a:ext cx="5394960" cy="292608"/>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Track revenue, service splits, claims and payments.</a:t>
            </a:r>
            <a:endParaRPr lang="en-US" sz="1300" dirty="0"/>
          </a:p>
        </p:txBody>
      </p:sp>
      <p:sp>
        <p:nvSpPr>
          <p:cNvPr id="20" name="Step 5"/>
          <p:cNvSpPr/>
          <p:nvPr/>
        </p:nvSpPr>
        <p:spPr>
          <a:xfrm>
            <a:off x="640080" y="5212080"/>
            <a:ext cx="548640" cy="548640"/>
          </a:xfrm>
          <a:prstGeom prst="diamond">
            <a:avLst/>
          </a:prstGeom>
          <a:solidFill>
            <a:schemeClr val="accent1"/>
          </a:solidFill>
          <a:ln w="12700">
            <a:solidFill>
              <a:schemeClr val="accent1"/>
            </a:solidFill>
            <a:prstDash val="solid"/>
          </a:ln>
        </p:spPr>
        <p:txBody>
          <a:bodyPr/>
          <a:p/>
        </p:txBody>
      </p:sp>
      <p:sp>
        <p:nvSpPr>
          <p:cNvPr id="21" name="Text 19"/>
          <p:cNvSpPr txBox="1"/>
          <p:nvPr/>
        </p:nvSpPr>
        <p:spPr>
          <a:xfrm>
            <a:off x="640080" y="521208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2" name="Text 20"/>
          <p:cNvSpPr txBox="1"/>
          <p:nvPr/>
        </p:nvSpPr>
        <p:spPr>
          <a:xfrm>
            <a:off x="1371600" y="5202936"/>
            <a:ext cx="5394960" cy="2926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Improve service delivery</a:t>
            </a:r>
            <a:endParaRPr lang="en-US" sz="1600" dirty="0"/>
          </a:p>
        </p:txBody>
      </p:sp>
      <p:sp>
        <p:nvSpPr>
          <p:cNvPr id="23" name="Text 21"/>
          <p:cNvSpPr txBox="1"/>
          <p:nvPr/>
        </p:nvSpPr>
        <p:spPr>
          <a:xfrm>
            <a:off x="1371600" y="5513832"/>
            <a:ext cx="5394960" cy="292608"/>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Analyze consultation modes, statuses and member ratings.</a:t>
            </a:r>
            <a:endParaRPr lang="en-US" sz="1300" dirty="0"/>
          </a:p>
        </p:txBody>
      </p:sp>
      <p:sp>
        <p:nvSpPr>
          <p:cNvPr id="24" name="Tech panel"/>
          <p:cNvSpPr/>
          <p:nvPr/>
        </p:nvSpPr>
        <p:spPr>
          <a:xfrm>
            <a:off x="7086600" y="1920240"/>
            <a:ext cx="4434840" cy="4114800"/>
          </a:xfrm>
          <a:prstGeom prst="rect">
            <a:avLst/>
          </a:prstGeom>
          <a:solidFill>
            <a:schemeClr val="tx2"/>
          </a:solidFill>
          <a:ln w="12700">
            <a:solidFill>
              <a:schemeClr val="tx2"/>
            </a:solidFill>
            <a:prstDash val="solid"/>
          </a:ln>
        </p:spPr>
        <p:txBody>
          <a:bodyPr/>
          <a:p/>
        </p:txBody>
      </p:sp>
      <p:sp>
        <p:nvSpPr>
          <p:cNvPr id="25" name="Text 23"/>
          <p:cNvSpPr txBox="1"/>
          <p:nvPr/>
        </p:nvSpPr>
        <p:spPr>
          <a:xfrm>
            <a:off x="7406640" y="2148840"/>
            <a:ext cx="3794760" cy="274320"/>
          </a:xfrm>
          <a:prstGeom prst="rect">
            <a:avLst/>
          </a:prstGeom>
          <a:noFill/>
          <a:ln/>
        </p:spPr>
        <p:txBody>
          <a:bodyPr wrap="square" lIns="0" tIns="0" rIns="0" bIns="0" rtlCol="0" anchor="ctr"/>
          <a:lstStyle/>
          <a:p>
            <a:pPr indent="0" marL="0">
              <a:buNone/>
            </a:pPr>
            <a:r>
              <a:rPr lang="en-US" sz="1200" b="1" spc="300" kern="0" dirty="0">
                <a:solidFill>
                  <a:schemeClr val="accent3"/>
                </a:solidFill>
                <a:latin typeface="Calibri" pitchFamily="34" charset="0"/>
                <a:ea typeface="Calibri" pitchFamily="34" charset="-122"/>
                <a:cs typeface="Calibri" pitchFamily="34" charset="-120"/>
              </a:rPr>
              <a:t>BUILT WITH</a:t>
            </a:r>
            <a:endParaRPr lang="en-US" sz="1200" dirty="0"/>
          </a:p>
        </p:txBody>
      </p:sp>
      <p:sp>
        <p:nvSpPr>
          <p:cNvPr id="26" name="Text 24"/>
          <p:cNvSpPr txBox="1"/>
          <p:nvPr/>
        </p:nvSpPr>
        <p:spPr>
          <a:xfrm>
            <a:off x="7406640" y="2441448"/>
            <a:ext cx="3794760" cy="45720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MySQL &amp; SQL</a:t>
            </a:r>
            <a:endParaRPr lang="en-US" sz="2400" dirty="0"/>
          </a:p>
        </p:txBody>
      </p:sp>
      <p:sp>
        <p:nvSpPr>
          <p:cNvPr id="27" name="Text 25"/>
          <p:cNvSpPr txBox="1"/>
          <p:nvPr/>
        </p:nvSpPr>
        <p:spPr>
          <a:xfrm>
            <a:off x="7406640" y="3108960"/>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Querying</a:t>
            </a:r>
            <a:endParaRPr lang="en-US" sz="1400" dirty="0"/>
          </a:p>
        </p:txBody>
      </p:sp>
      <p:sp>
        <p:nvSpPr>
          <p:cNvPr id="28" name="Text 26"/>
          <p:cNvSpPr txBox="1"/>
          <p:nvPr/>
        </p:nvSpPr>
        <p:spPr>
          <a:xfrm>
            <a:off x="7406640" y="3401568"/>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SELECT, WHERE, GROUP BY, HAVING, ORDER BY, LIMIT</a:t>
            </a:r>
            <a:endParaRPr lang="en-US" sz="1200" dirty="0"/>
          </a:p>
        </p:txBody>
      </p:sp>
      <p:sp>
        <p:nvSpPr>
          <p:cNvPr id="29" name="Text 27"/>
          <p:cNvSpPr txBox="1"/>
          <p:nvPr/>
        </p:nvSpPr>
        <p:spPr>
          <a:xfrm>
            <a:off x="7406640" y="3822192"/>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Aggregation</a:t>
            </a:r>
            <a:endParaRPr lang="en-US" sz="1400" dirty="0"/>
          </a:p>
        </p:txBody>
      </p:sp>
      <p:sp>
        <p:nvSpPr>
          <p:cNvPr id="30" name="Text 28"/>
          <p:cNvSpPr txBox="1"/>
          <p:nvPr/>
        </p:nvSpPr>
        <p:spPr>
          <a:xfrm>
            <a:off x="7406640" y="4114800"/>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COUNT, SUM, AVG, MIN, MAX</a:t>
            </a:r>
            <a:endParaRPr lang="en-US" sz="1200" dirty="0"/>
          </a:p>
        </p:txBody>
      </p:sp>
      <p:sp>
        <p:nvSpPr>
          <p:cNvPr id="31" name="Text 29"/>
          <p:cNvSpPr txBox="1"/>
          <p:nvPr/>
        </p:nvSpPr>
        <p:spPr>
          <a:xfrm>
            <a:off x="7406640" y="4535424"/>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Joins &amp; Cleaning</a:t>
            </a:r>
            <a:endParaRPr lang="en-US" sz="1400" dirty="0"/>
          </a:p>
        </p:txBody>
      </p:sp>
      <p:sp>
        <p:nvSpPr>
          <p:cNvPr id="32" name="Text 30"/>
          <p:cNvSpPr txBox="1"/>
          <p:nvPr/>
        </p:nvSpPr>
        <p:spPr>
          <a:xfrm>
            <a:off x="7406640" y="4828032"/>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INNER JOIN, LEFT JOIN, CASE, UPDATE, REPLACE</a:t>
            </a:r>
            <a:endParaRPr lang="en-US" sz="1200" dirty="0"/>
          </a:p>
        </p:txBody>
      </p:sp>
      <p:sp>
        <p:nvSpPr>
          <p:cNvPr id="33" name="Text 31"/>
          <p:cNvSpPr txBox="1"/>
          <p:nvPr/>
        </p:nvSpPr>
        <p:spPr>
          <a:xfrm>
            <a:off x="7406640" y="5248656"/>
            <a:ext cx="379476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Window Functions</a:t>
            </a:r>
            <a:endParaRPr lang="en-US" sz="1400" dirty="0"/>
          </a:p>
        </p:txBody>
      </p:sp>
      <p:sp>
        <p:nvSpPr>
          <p:cNvPr id="34" name="Text 32"/>
          <p:cNvSpPr txBox="1"/>
          <p:nvPr/>
        </p:nvSpPr>
        <p:spPr>
          <a:xfrm>
            <a:off x="7406640" y="5541264"/>
            <a:ext cx="3794760" cy="320040"/>
          </a:xfrm>
          <a:prstGeom prst="rect">
            <a:avLst/>
          </a:prstGeom>
          <a:noFill/>
          <a:ln/>
        </p:spPr>
        <p:txBody>
          <a:bodyPr wrap="square" lIns="0" tIns="0" rIns="0" bIns="0" rtlCol="0" anchor="ctr"/>
          <a:lstStyle/>
          <a:p>
            <a:pPr indent="0" marL="0">
              <a:buNone/>
            </a:pPr>
            <a:r>
              <a:rPr lang="en-US" sz="1200" dirty="0">
                <a:solidFill>
                  <a:schemeClr val="bg1"/>
                </a:solidFill>
                <a:latin typeface="Calibri" pitchFamily="34" charset="0"/>
                <a:ea typeface="Calibri" pitchFamily="34" charset="-122"/>
                <a:cs typeface="Calibri" pitchFamily="34" charset="-120"/>
              </a:rPr>
              <a:t>ROW_NUMBER, LAG, LEAD</a:t>
            </a:r>
            <a:endParaRPr lang="en-US" sz="12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9418320" cy="640080"/>
          </a:xfrm>
          <a:prstGeom prst="rect">
            <a:avLst/>
          </a:prstGeom>
          <a:noFill/>
          <a:ln/>
        </p:spPr>
        <p:txBody>
          <a:bodyPr wrap="square" lIns="0" tIns="0" rIns="0" bIns="0" rtlCol="0" anchor="ctr"/>
          <a:lstStyle/>
          <a:p>
            <a:pPr algn="l" indent="0" marL="0">
              <a:buNone/>
            </a:pPr>
            <a:r>
              <a:rPr lang="en-US" sz="3200" b="1" dirty="0">
                <a:solidFill>
                  <a:schemeClr val="tx2"/>
                </a:solidFill>
                <a:latin typeface="Arial" pitchFamily="34" charset="0"/>
                <a:ea typeface="Arial" pitchFamily="34" charset="-122"/>
                <a:cs typeface="Arial" pitchFamily="34" charset="-120"/>
              </a:rPr>
              <a:t>Key Insights &amp; Recommendations</a:t>
            </a:r>
            <a:endParaRPr lang="en-US" sz="3200" dirty="0"/>
          </a:p>
        </p:txBody>
      </p:sp>
      <p:sp>
        <p:nvSpPr>
          <p:cNvPr id="3" name="Insights panel"/>
          <p:cNvSpPr/>
          <p:nvPr/>
        </p:nvSpPr>
        <p:spPr>
          <a:xfrm>
            <a:off x="640080" y="1691640"/>
            <a:ext cx="5394960" cy="4480560"/>
          </a:xfrm>
          <a:prstGeom prst="rect">
            <a:avLst/>
          </a:prstGeom>
          <a:solidFill>
            <a:schemeClr val="bg2"/>
          </a:solidFill>
          <a:ln w="12700">
            <a:solidFill>
              <a:schemeClr val="accent5"/>
            </a:solidFill>
            <a:prstDash val="solid"/>
          </a:ln>
        </p:spPr>
        <p:txBody>
          <a:bodyPr/>
          <a:p/>
        </p:txBody>
      </p:sp>
      <p:sp>
        <p:nvSpPr>
          <p:cNvPr id="4" name="Recommendations panel"/>
          <p:cNvSpPr/>
          <p:nvPr/>
        </p:nvSpPr>
        <p:spPr>
          <a:xfrm>
            <a:off x="6172200" y="1691640"/>
            <a:ext cx="5394960" cy="4480560"/>
          </a:xfrm>
          <a:prstGeom prst="rect">
            <a:avLst/>
          </a:prstGeom>
          <a:solidFill>
            <a:schemeClr val="accent1"/>
          </a:solidFill>
          <a:ln w="12700">
            <a:solidFill>
              <a:schemeClr val="accent1"/>
            </a:solidFill>
            <a:prstDash val="solid"/>
          </a:ln>
        </p:spPr>
        <p:txBody>
          <a:bodyPr/>
          <a:p/>
        </p:txBody>
      </p:sp>
      <p:sp>
        <p:nvSpPr>
          <p:cNvPr id="5" name="Text 3"/>
          <p:cNvSpPr txBox="1"/>
          <p:nvPr/>
        </p:nvSpPr>
        <p:spPr>
          <a:xfrm>
            <a:off x="914400" y="1828800"/>
            <a:ext cx="4846320" cy="320040"/>
          </a:xfrm>
          <a:prstGeom prst="rect">
            <a:avLst/>
          </a:prstGeom>
          <a:noFill/>
          <a:ln/>
        </p:spPr>
        <p:txBody>
          <a:bodyPr wrap="square" lIns="0" tIns="0" rIns="0" bIns="0" rtlCol="0" anchor="ctr"/>
          <a:lstStyle/>
          <a:p>
            <a:pPr indent="0" marL="0">
              <a:buNone/>
            </a:pPr>
            <a:r>
              <a:rPr lang="en-US" sz="1400" b="1" spc="300" kern="0" dirty="0">
                <a:solidFill>
                  <a:schemeClr val="accent1"/>
                </a:solidFill>
                <a:latin typeface="Calibri" pitchFamily="34" charset="0"/>
                <a:ea typeface="Calibri" pitchFamily="34" charset="-122"/>
                <a:cs typeface="Calibri" pitchFamily="34" charset="-120"/>
              </a:rPr>
              <a:t>INSIGHTS</a:t>
            </a:r>
            <a:endParaRPr lang="en-US" sz="1400" dirty="0"/>
          </a:p>
        </p:txBody>
      </p:sp>
      <p:sp>
        <p:nvSpPr>
          <p:cNvPr id="6" name="Text 4"/>
          <p:cNvSpPr txBox="1"/>
          <p:nvPr/>
        </p:nvSpPr>
        <p:spPr>
          <a:xfrm>
            <a:off x="6446520" y="1828800"/>
            <a:ext cx="4846320" cy="320040"/>
          </a:xfrm>
          <a:prstGeom prst="rect">
            <a:avLst/>
          </a:prstGeom>
          <a:noFill/>
          <a:ln/>
        </p:spPr>
        <p:txBody>
          <a:bodyPr wrap="square" lIns="0" tIns="0" rIns="0" bIns="0" rtlCol="0" anchor="ctr"/>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RECOMMENDATIONS</a:t>
            </a:r>
            <a:endParaRPr lang="en-US" sz="1400" dirty="0"/>
          </a:p>
        </p:txBody>
      </p:sp>
      <p:sp>
        <p:nvSpPr>
          <p:cNvPr id="7" name="Text 5"/>
          <p:cNvSpPr txBox="1"/>
          <p:nvPr/>
        </p:nvSpPr>
        <p:spPr>
          <a:xfrm>
            <a:off x="914400" y="2240280"/>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Data quality: </a:t>
            </a:r>
            <a:r>
              <a:rPr lang="en-US" sz="1500" dirty="0">
                <a:solidFill>
                  <a:schemeClr val="tx1"/>
                </a:solidFill>
                <a:latin typeface="Calibri" pitchFamily="34" charset="0"/>
                <a:ea typeface="Calibri" pitchFamily="34" charset="-122"/>
                <a:cs typeface="Calibri" pitchFamily="34" charset="-120"/>
              </a:rPr>
              <a:t>Gender, email and missing-ID gaps needed fixing before reporting.</a:t>
            </a:r>
            <a:endParaRPr lang="en-US" sz="1500" dirty="0"/>
          </a:p>
        </p:txBody>
      </p:sp>
      <p:sp>
        <p:nvSpPr>
          <p:cNvPr id="8" name="Text 6"/>
          <p:cNvSpPr txBox="1"/>
          <p:nvPr/>
        </p:nvSpPr>
        <p:spPr>
          <a:xfrm>
            <a:off x="6446520" y="2240280"/>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Fix data gaps at source with mandatory IDs and validation.</a:t>
            </a:r>
            <a:endParaRPr lang="en-US" sz="1500" dirty="0"/>
          </a:p>
        </p:txBody>
      </p:sp>
      <p:sp>
        <p:nvSpPr>
          <p:cNvPr id="9" name="Text 7"/>
          <p:cNvSpPr txBox="1"/>
          <p:nvPr/>
        </p:nvSpPr>
        <p:spPr>
          <a:xfrm>
            <a:off x="914400" y="2990088"/>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Member demand: </a:t>
            </a:r>
            <a:r>
              <a:rPr lang="en-US" sz="1500" dirty="0">
                <a:solidFill>
                  <a:schemeClr val="tx1"/>
                </a:solidFill>
                <a:latin typeface="Calibri" pitchFamily="34" charset="0"/>
                <a:ea typeface="Calibri" pitchFamily="34" charset="-122"/>
                <a:cs typeface="Calibri" pitchFamily="34" charset="-120"/>
              </a:rPr>
              <a:t>Varies by city, membership type and gender.</a:t>
            </a:r>
            <a:endParaRPr lang="en-US" sz="1500" dirty="0"/>
          </a:p>
        </p:txBody>
      </p:sp>
      <p:sp>
        <p:nvSpPr>
          <p:cNvPr id="10" name="Text 8"/>
          <p:cNvSpPr txBox="1"/>
          <p:nvPr/>
        </p:nvSpPr>
        <p:spPr>
          <a:xfrm>
            <a:off x="6446520" y="2990088"/>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Focus capacity on high-concentration cities and segments.</a:t>
            </a:r>
            <a:endParaRPr lang="en-US" sz="1500" dirty="0"/>
          </a:p>
        </p:txBody>
      </p:sp>
      <p:sp>
        <p:nvSpPr>
          <p:cNvPr id="11" name="Text 9"/>
          <p:cNvSpPr txBox="1"/>
          <p:nvPr/>
        </p:nvSpPr>
        <p:spPr>
          <a:xfrm>
            <a:off x="914400" y="3739896"/>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Clinic load: </a:t>
            </a:r>
            <a:r>
              <a:rPr lang="en-US" sz="1500" dirty="0">
                <a:solidFill>
                  <a:schemeClr val="tx1"/>
                </a:solidFill>
                <a:latin typeface="Calibri" pitchFamily="34" charset="0"/>
                <a:ea typeface="Calibri" pitchFamily="34" charset="-122"/>
                <a:cs typeface="Calibri" pitchFamily="34" charset="-120"/>
              </a:rPr>
              <a:t>Demand concentrates in top clinics and specializations.</a:t>
            </a:r>
            <a:endParaRPr lang="en-US" sz="1500" dirty="0"/>
          </a:p>
        </p:txBody>
      </p:sp>
      <p:sp>
        <p:nvSpPr>
          <p:cNvPr id="12" name="Text 10"/>
          <p:cNvSpPr txBox="1"/>
          <p:nvPr/>
        </p:nvSpPr>
        <p:spPr>
          <a:xfrm>
            <a:off x="6446520" y="3739896"/>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Review high-volume clinics and specializations for staffing.</a:t>
            </a:r>
            <a:endParaRPr lang="en-US" sz="1500" dirty="0"/>
          </a:p>
        </p:txBody>
      </p:sp>
      <p:sp>
        <p:nvSpPr>
          <p:cNvPr id="13" name="Text 11"/>
          <p:cNvSpPr txBox="1"/>
          <p:nvPr/>
        </p:nvSpPr>
        <p:spPr>
          <a:xfrm>
            <a:off x="914400" y="4489704"/>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Revenue mix: </a:t>
            </a:r>
            <a:r>
              <a:rPr lang="en-US" sz="1500" dirty="0">
                <a:solidFill>
                  <a:schemeClr val="tx1"/>
                </a:solidFill>
                <a:latin typeface="Calibri" pitchFamily="34" charset="0"/>
                <a:ea typeface="Calibri" pitchFamily="34" charset="-122"/>
                <a:cs typeface="Calibri" pitchFamily="34" charset="-120"/>
              </a:rPr>
              <a:t>Consultation, lab and medicine charges each contribute.</a:t>
            </a:r>
            <a:endParaRPr lang="en-US" sz="1500" dirty="0"/>
          </a:p>
        </p:txBody>
      </p:sp>
      <p:sp>
        <p:nvSpPr>
          <p:cNvPr id="14" name="Text 12"/>
          <p:cNvSpPr txBox="1"/>
          <p:nvPr/>
        </p:nvSpPr>
        <p:spPr>
          <a:xfrm>
            <a:off x="6446520" y="4489704"/>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Track consultation, lab and medicine revenue separately.</a:t>
            </a:r>
            <a:endParaRPr lang="en-US" sz="1500" dirty="0"/>
          </a:p>
        </p:txBody>
      </p:sp>
      <p:sp>
        <p:nvSpPr>
          <p:cNvPr id="15" name="Text 13"/>
          <p:cNvSpPr txBox="1"/>
          <p:nvPr/>
        </p:nvSpPr>
        <p:spPr>
          <a:xfrm>
            <a:off x="914400" y="5239512"/>
            <a:ext cx="4846320" cy="685800"/>
          </a:xfrm>
          <a:prstGeom prst="rect">
            <a:avLst/>
          </a:prstGeom>
          <a:noFill/>
          <a:ln/>
        </p:spPr>
        <p:txBody>
          <a:bodyPr wrap="square" lIns="0" tIns="0" rIns="0" bIns="0" rtlCol="0" anchor="ctr"/>
          <a:lstStyle/>
          <a:p>
            <a:pPr indent="-228600" marL="228600">
              <a:buFont typeface="Arial"/>
              <a:buChar char="•"/>
            </a:pPr>
            <a:r>
              <a:rPr lang="en-US" sz="1500" b="1" dirty="0">
                <a:solidFill>
                  <a:schemeClr val="tx1"/>
                </a:solidFill>
                <a:latin typeface="Calibri" pitchFamily="34" charset="0"/>
                <a:ea typeface="Calibri" pitchFamily="34" charset="-122"/>
                <a:cs typeface="Calibri" pitchFamily="34" charset="-120"/>
              </a:rPr>
              <a:t>Claims &amp; payments: </a:t>
            </a:r>
            <a:r>
              <a:rPr lang="en-US" sz="1500" dirty="0">
                <a:solidFill>
                  <a:schemeClr val="tx1"/>
                </a:solidFill>
                <a:latin typeface="Calibri" pitchFamily="34" charset="0"/>
                <a:ea typeface="Calibri" pitchFamily="34" charset="-122"/>
                <a:cs typeface="Calibri" pitchFamily="34" charset="-120"/>
              </a:rPr>
              <a:t>Claim and payment status reveal financial follow-up areas.</a:t>
            </a:r>
            <a:endParaRPr lang="en-US" sz="1500" dirty="0"/>
          </a:p>
        </p:txBody>
      </p:sp>
      <p:sp>
        <p:nvSpPr>
          <p:cNvPr id="16" name="Text 14"/>
          <p:cNvSpPr txBox="1"/>
          <p:nvPr/>
        </p:nvSpPr>
        <p:spPr>
          <a:xfrm>
            <a:off x="6446520" y="5239512"/>
            <a:ext cx="4846320" cy="685800"/>
          </a:xfrm>
          <a:prstGeom prst="rect">
            <a:avLst/>
          </a:prstGeom>
          <a:noFill/>
          <a:ln/>
        </p:spPr>
        <p:txBody>
          <a:bodyPr wrap="square" lIns="0" tIns="0" rIns="0" bIns="0" rtlCol="0" anchor="ctr"/>
          <a:lstStyle/>
          <a:p>
            <a:pPr indent="-228600" marL="228600">
              <a:buFont typeface="Arial"/>
              <a:buChar char="•"/>
            </a:pPr>
            <a:r>
              <a:rPr lang="en-US" sz="1500" dirty="0">
                <a:solidFill>
                  <a:schemeClr val="bg1"/>
                </a:solidFill>
                <a:latin typeface="Calibri" pitchFamily="34" charset="0"/>
                <a:ea typeface="Calibri" pitchFamily="34" charset="-122"/>
                <a:cs typeface="Calibri" pitchFamily="34" charset="-120"/>
              </a:rPr>
              <a:t>Monitor claims and payment status to improve collections.</a:t>
            </a:r>
            <a:endParaRPr lang="en-US" sz="1500" dirty="0"/>
          </a:p>
        </p:txBody>
      </p:sp>
      <p:sp>
        <p:nvSpPr>
          <p:cNvPr id="25" name="Slide Number Placeholder 0"/>
          <p:cNvSpPr>
            <a:spLocks noGrp="1"/>
          </p:cNvSpPr>
          <p:nvPr>
            <p:ph type="sldNum" sz="quarter" idx="4294967295"/>
          </p:nvPr>
        </p:nvSpPr>
        <p:spPr>
          <a:xfrm>
            <a:off x="10607040" y="6419088"/>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HealthPlus Plum">
  <a:themeElements>
    <a:clrScheme name="HealthPlus Plum">
      <a:dk1>
        <a:srgbClr val="2E0D20"/>
      </a:dk1>
      <a:lt1>
        <a:srgbClr val="FFFFFF"/>
      </a:lt1>
      <a:dk2>
        <a:srgbClr val="421230"/>
      </a:dk2>
      <a:lt2>
        <a:srgbClr val="F7EDF2"/>
      </a:lt2>
      <a:accent1>
        <a:srgbClr val="7A1F4F"/>
      </a:accent1>
      <a:accent2>
        <a:srgbClr val="A8456F"/>
      </a:accent2>
      <a:accent3>
        <a:srgbClr val="C9739A"/>
      </a:accent3>
      <a:accent4>
        <a:srgbClr val="5C4A55"/>
      </a:accent4>
      <a:accent5>
        <a:srgbClr val="E9CFDD"/>
      </a:accent5>
      <a:accent6>
        <a:srgbClr val="8E2C5E"/>
      </a:accent6>
      <a:hlink>
        <a:srgbClr val="7A1F4F"/>
      </a:hlink>
      <a:folHlink>
        <a:srgbClr val="A8456F"/>
      </a:folHlink>
    </a:clrScheme>
    <a:fontScheme name="HealthPlus Plu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2026-10-14T11:01:00Z</dcterms:created>
  <dcterms:modified xsi:type="dcterms:W3CDTF">2026-10-14T11:01:00Z</dcterms:modified>
</cp:coreProperties>
</file>